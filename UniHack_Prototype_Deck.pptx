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name: 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name: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384048" y="1481328"/>
            <a:ext cx="837590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003878"/>
                </a:solidFill>
                <a:latin typeface="Segoe UI"/>
              </a:rPr>
              <a:t>Six columns in. 252 columns out.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1F242B"/>
                </a:solidFill>
                <a:latin typeface="Segoe UI"/>
              </a:rPr>
              <a:t>A distributor's catalogue arrives as a part number, a 35-character line of trade shorthand and three brand columns that are mostly placeholder markers. The Unilog delivery template asks for a full taxonomy path, six description variants, twenty feature bullets and sixty attribute triplets. Everything in between has to be recovered — and every recovered value has to be defensible.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1F242B"/>
                </a:solidFill>
                <a:latin typeface="Segoe UI"/>
              </a:rPr>
              <a:t>The Product Intelligence Engine reads that shorthand the way a product manager does. It decodes what is deterministic, infers what the catalogue itself can support, asks a language model only for what is genuinely left, then judges its own output and routes anything it cannot defend to a human — with the evidence, source and confidence attached to every single value.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4048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1,000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rows processed in 7.2s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084831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7,330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fields recovered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785615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96%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identity coverage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86400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100%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taxonomy coverage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187183" y="3950208"/>
            <a:ext cx="1572768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83%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auto-approved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84048" y="4773168"/>
            <a:ext cx="837590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A6370"/>
                </a:solidFill>
                <a:latin typeface="Segoe UI"/>
              </a:rPr>
              <a:t>With the model on a 100-row slice: quality 59.6 → 72.4, all six content columns filled, 5.9 attribute triplets per product, 411 calls, zero rate-limit failures.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1. How does your solution enrich minimal product information?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Briefly explain how your solution transforms limited inputs (e.g., Part Number, Brand, Short Description) into rich product intelligence.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2. How does your solution ensure accuracy and trust in the generated product data?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Describe your validation strategy. This may include: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(Confidence scoring, Multi-source verification, Human review, Rule-based validation, AI validation, Other approaches)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3. What makes your solution scalable for enterprise product catalogs?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Describe how your solution would handle: Large product catalogs, New manufacturers, Different document formats, Continuous product updates</a:t>
            </a:r>
            <a:endParaRPr i="1" sz="1000">
              <a:solidFill>
                <a:srgbClr val="434343"/>
              </a:solidFill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84048" y="1417320"/>
            <a:ext cx="8375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Worked example — one real row from the supplied file</a:t>
            </a:r>
          </a:p>
          <a:p>
            <a:pPr algn="l">
              <a:spcAft>
                <a:spcPts val="1000"/>
              </a:spcAft>
            </a:pPr>
            <a:r>
              <a:rPr sz="1050" b="0">
                <a:solidFill>
                  <a:srgbClr val="5A6370"/>
                </a:solidFill>
                <a:latin typeface="Segoe UI"/>
              </a:rPr>
              <a:t>IN:   3MABR-7100075678  |  "3M 775L Stikit Film P150 - Cubitron II 50 Disc/Box"  |  brand: -- Unbranded --  |  Part_Manuf: Jam Industrial Supply LLC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84048" y="2212848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Decode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08176" y="2194560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Trade shorthand is parsed, not guessed: form, grit P150, attachment system, pack quantity, selling unit — no model call.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645152" y="2212848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Identify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0" y="2194560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Part_Manuf is the account bought from, not the maker. It is published as supplier; 3M is recovered as brand and manufacturer from the description.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4048" y="3054096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Classify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08176" y="3035808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Keyword classifier settles 71% of the file; the model escalates the rest into the 26-class taxonomy.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645152" y="3054096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Infer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669280" y="3035808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Catalogue peers fill gaps — but brand-scoped attributes are refused outside a brand-scoped peer group, so 3M's series never lands on a Diablo belt.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84048" y="3895344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Write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408176" y="38770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Six commerce descriptions and the feature bullets are generated to the template's own length targets.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645152" y="3895344"/>
            <a:ext cx="932688" cy="38404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Judge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69280" y="38770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A model reviews the finished record; anything unsupported is flagged, de-confidenced and queued for a human.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will it be able to solve the problem statemen</a:t>
            </a: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t given</a:t>
            </a: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384048" y="1481328"/>
            <a:ext cx="837590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Different from an "AI enrichment" wrapper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Deterministic first. The decoders cover all 1,000 rows in 7.2 seconds with no API key at all. The model is the last resort, not the pipeline.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Every value carries method, source, evidence and confidence — a buyer can ask "why does this say P150?" and get an answer, not a vibe.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It scores itself. Quality is decomposed into completeness, accuracy, consistency and richness, measured before and after, so uplift is a number and not a claim.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How it solves the problem statement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252-column delivery template filled directly — column order is read from the template file at runtime, so a revised template needs no code change.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Blank beats wrong: anything below the publish floor is held back and queued, because a blank cell is recoverable and a confident wrong value is not.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USP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C2412B"/>
                </a:solidFill>
                <a:latin typeface="Segoe UI"/>
              </a:rPr>
              <a:t>An enrichment engine that argues with itself. Switching the model on initially made the quality score fall — because the judge had started catching two real defects nobody had checked for. Both were fixed at the source. That is the difference between filling cells and shipping a catalogue.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84048" y="151790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Trade-shorthand decoder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4048" y="1737360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Form, grit, dimensions, colour, base type, pack quantity and selling unit parsed from a 35-character line.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45152" y="151790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Identity resolution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645152" y="1737360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Supplier account vs brand vs manufacturer, separated and published on the right lines — 552 brands recovered.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23042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26-class taxonomy + escalation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4048" y="252374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Keyword classifier, then LLM escalation for what it cannot settle. Dept / Class / Fine path filled 100%.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45152" y="23042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Catalogue knowledge graph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45152" y="252374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Peer consensus fills gaps and exposes outliers — scoped so inference never crosses a brand boundary.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4048" y="309067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Commerce content generation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4048" y="331012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Six description variants and twenty feature bullets, written to the template's own length targets.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45152" y="309067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LLM judge + rule engine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45152" y="331012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Unit sanity, magnitude plausibility, internal contradiction and evidence-support checks.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048" y="387705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Human review queue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409651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Approve / correct / reject with notes; every decision is stored and turned into reviewer calibration.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45152" y="387705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878"/>
                </a:solidFill>
                <a:latin typeface="Segoe UI"/>
              </a:rPr>
              <a:t>Evidence-first export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45152" y="409651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1F242B"/>
                </a:solidFill>
                <a:latin typeface="Segoe UI"/>
              </a:rPr>
              <a:t>252-column delivery CSV, flat catalogue CSV, full audit JSON, open-queue CSV.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384048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Ingest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4048" y="2322576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6 columns
header mapping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865376" y="1956816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/>
          <p:cNvSpPr/>
          <p:nvPr/>
        </p:nvSpPr>
        <p:spPr>
          <a:xfrm>
            <a:off x="2103120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Classify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03120" y="2322576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keyword →
LLM escalation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3584448" y="1956816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3822192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Decode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22192" y="2322576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shorthand,
units, enums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5303520" y="1956816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5541264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Resolve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541264" y="2322576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golden record
source precedence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7022592" y="1956816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/>
          <p:cNvSpPr/>
          <p:nvPr/>
        </p:nvSpPr>
        <p:spPr>
          <a:xfrm>
            <a:off x="7260336" y="1627632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Validate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260336" y="2322576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rules, ranges,
contradictions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84048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Enrich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4048" y="376732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peers → graph
→ LLM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1865376" y="3401568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unded Rectangle 154"/>
          <p:cNvSpPr/>
          <p:nvPr/>
        </p:nvSpPr>
        <p:spPr>
          <a:xfrm>
            <a:off x="2103120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Generate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03120" y="376732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6 descriptions
20 features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3584448" y="3401568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3822192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Judge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822192" y="376732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LLM review
de-confidence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303520" y="3401568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5541264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Route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541264" y="376732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auto-approve
or human queue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7022592" y="3401568"/>
            <a:ext cx="237744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7260336" y="3072384"/>
            <a:ext cx="1481328" cy="658368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Export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260336" y="376732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A6370"/>
                </a:solidFill>
                <a:latin typeface="Segoe UI"/>
              </a:rPr>
              <a:t>252-column
delivery CSV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8595360" y="2286000"/>
            <a:ext cx="0" cy="393192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530352" y="2679192"/>
            <a:ext cx="8065008" cy="0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30352" y="2679192"/>
            <a:ext cx="0" cy="393192"/>
          </a:xfrm>
          <a:prstGeom prst="line">
            <a:avLst/>
          </a:prstGeom>
          <a:ln w="19050">
            <a:solidFill>
              <a:srgbClr val="003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384048" y="4315968"/>
            <a:ext cx="837590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C2412B"/>
                </a:solidFill>
                <a:latin typeface="Segoe UI"/>
              </a:rPr>
              <a:t>↺  reviewer corrections re-enter the record and re-score it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84048" y="4590288"/>
            <a:ext cx="837590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A6370"/>
                </a:solidFill>
                <a:latin typeface="Segoe UI"/>
              </a:rPr>
              <a:t>No model call happens until the deterministic stages have taken everything they can.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384048" y="1572768"/>
            <a:ext cx="1536192" cy="676656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Interface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084832" y="1572768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Streamlit app — 6 pages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6448" y="1572768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Headless CLI runner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08064" y="1572768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252-column exporter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84048" y="2359152"/>
            <a:ext cx="1536192" cy="676656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Intelligence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084832" y="2359152"/>
            <a:ext cx="1586484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Trade-shorthand decoders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781044" y="2359152"/>
            <a:ext cx="1586484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Identity resolver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477256" y="2359152"/>
            <a:ext cx="1586484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Knowledge graph + RAG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173468" y="2359152"/>
            <a:ext cx="1586484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LLM extract / generate / judge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84048" y="3145536"/>
            <a:ext cx="1536192" cy="676656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Contract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084832" y="3145536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attributes.json — 26 classes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346448" y="3145536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Delivery template header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608064" y="3145536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Quality scorer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84048" y="3931920"/>
            <a:ext cx="1536192" cy="676656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084832" y="3931920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Provider-agnostic LLM client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346448" y="3931920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SQLite store + prompt cache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608064" y="3931920"/>
            <a:ext cx="2151887" cy="676656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900" b="0">
                <a:solidFill>
                  <a:srgbClr val="1F242B"/>
                </a:solidFill>
                <a:latin typeface="Segoe UI"/>
              </a:rPr>
              <a:t>Rate limiter + retry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4048" y="4773168"/>
            <a:ext cx="837590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A6370"/>
                </a:solidFill>
                <a:latin typeface="Segoe UI"/>
              </a:rPr>
              <a:t>Anthropic · Gemini · OpenAI · Groq — first provider with a key wins, and a failure falls through to the next, so one vendor's rate limit cannot stop a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384048" y="1572768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Core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121408" y="1636776"/>
            <a:ext cx="66385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Python 3.13 · pydantic · pandas · numpy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84048" y="2020824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Intelligence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121408" y="2084831"/>
            <a:ext cx="66385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Gemini 3.5 Flash-Lite (bulk) · Gemini 3.6 Flash (vision) · provider-agnostic client with Anthropic / OpenAI / Groq fallback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84048" y="2468880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Retrieval &amp; graph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121408" y="2532888"/>
            <a:ext cx="66385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networkx knowledge graph · TF-IDF peer retrieval (scikit-learn) · rapidfuzz alias matching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84048" y="2916936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Documents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21408" y="2980944"/>
            <a:ext cx="66385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PyMuPDF for datasheet tables · Pillow for image evidence · openpyxl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84048" y="3364991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Interface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21408" y="3428999"/>
            <a:ext cx="66385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Streamlit · Plotly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84048" y="3813048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Storage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121408" y="3877056"/>
            <a:ext cx="66385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SQLite — catalogue, runs, review decisions and the prompt cache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84048" y="4261104"/>
            <a:ext cx="1572768" cy="365760"/>
          </a:xfrm>
          <a:prstGeom prst="roundRect">
            <a:avLst/>
          </a:prstGeom>
          <a:solidFill>
            <a:srgbClr val="003878"/>
          </a:solidFill>
          <a:ln w="12700">
            <a:solidFill>
              <a:srgbClr val="003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Quality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21408" y="4325112"/>
            <a:ext cx="66385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42B"/>
                </a:solidFill>
                <a:latin typeface="Segoe UI"/>
              </a:rPr>
              <a:t>pytest — 35 tests over decoding, identity and request pacing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384048" y="146304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The deterministic pass is the product. The model is an optional accelerant.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84048" y="1993392"/>
            <a:ext cx="1997964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₹0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full 1,000-row deterministic pass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510028" y="1993392"/>
            <a:ext cx="1997964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7.2s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end to end, no network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636008" y="1993392"/>
            <a:ext cx="1997964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~4,000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model calls for a full LLM pass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761988" y="1993392"/>
            <a:ext cx="1997964" cy="749808"/>
          </a:xfrm>
          <a:prstGeom prst="roundRect">
            <a:avLst/>
          </a:prstGeom>
          <a:solidFill>
            <a:srgbClr val="F1F4F8"/>
          </a:solidFill>
          <a:ln>
            <a:solidFill>
              <a:srgbClr val="F1F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003878"/>
                </a:solidFill>
                <a:latin typeface="Segoe UI"/>
              </a:rPr>
              <a:t>15 RPM</a:t>
            </a:r>
          </a:p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free-tier ceiling per model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4048" y="2999232"/>
            <a:ext cx="83759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1F242B"/>
                </a:solidFill>
                <a:latin typeface="Segoe UI"/>
              </a:rPr>
              <a:t>•  Running the whole file through the model on a free tier takes about five hours — so the engine is built so that it never has to. Deterministic decoding covers all 1,000 rows; the model is pointed at what is left.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F242B"/>
                </a:solidFill>
                <a:latin typeface="Segoe UI"/>
              </a:rPr>
              <a:t>•  Every completion is cached by (provider, model, prompt) hash, so a re-run during a demo or a review cycle costs nothing at all.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F242B"/>
                </a:solidFill>
                <a:latin typeface="Segoe UI"/>
              </a:rPr>
              <a:t>•  A paid key changes only the throughput, not the architecture: at Gemini Flash-Lite list pricing a full 1,000-row enrichment is a low single-digit dollar job.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F242B"/>
                </a:solidFill>
                <a:latin typeface="Segoe UI"/>
              </a:rPr>
              <a:t>•  Self-hosting cost is a Streamlit process and a SQLite file — no vector database, no queue, no GPU.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8" name="Picture 167" descr="01_overvi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17904"/>
            <a:ext cx="4059936" cy="1481328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384048" y="3026664"/>
            <a:ext cx="40599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Overview — measured uplift, not a claim</a:t>
            </a:r>
          </a:p>
        </p:txBody>
      </p:sp>
      <p:pic>
        <p:nvPicPr>
          <p:cNvPr id="170" name="Picture 169" descr="02_catalo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1517904"/>
            <a:ext cx="4059936" cy="1481328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4700016" y="3026664"/>
            <a:ext cx="40599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Catalog — every value, its evidence and its confidence</a:t>
            </a:r>
          </a:p>
        </p:txBody>
      </p:sp>
      <p:pic>
        <p:nvPicPr>
          <p:cNvPr id="172" name="Picture 171" descr="04_review_queu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401568"/>
            <a:ext cx="4059936" cy="148132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384048" y="4910328"/>
            <a:ext cx="40599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Review Queue — only what the engine could not settle</a:t>
            </a:r>
          </a:p>
        </p:txBody>
      </p:sp>
      <p:pic>
        <p:nvPicPr>
          <p:cNvPr id="174" name="Picture 173" descr="05_expor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01568"/>
            <a:ext cx="4059936" cy="1481328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4700016" y="4910328"/>
            <a:ext cx="40599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A6370"/>
                </a:solidFill>
                <a:latin typeface="Segoe UI"/>
              </a:rPr>
              <a:t>Export — the 252-column delivery contract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384048" y="1481328"/>
            <a:ext cx="837590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What is deliberately not done yet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Distributor-side columns — SKU - MY_PART_NUMBER, List Price, Prop 65 — export blank. They are commercial data no enrichment can honestly invent.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290 rows classify as General Product deterministically; LLM escalation resolves about three quarters, and the rest are genuinely outside the 26-class taxonomy.</a:t>
            </a:r>
          </a:p>
          <a:p>
            <a:pPr algn="l">
              <a:spcBef>
                <a:spcPts val="1000"/>
              </a:spcBef>
              <a:spcAft>
                <a:spcPts val="700"/>
              </a:spcAft>
            </a:pPr>
            <a:r>
              <a:rPr sz="1300" b="1">
                <a:solidFill>
                  <a:srgbClr val="003878"/>
                </a:solidFill>
                <a:latin typeface="Segoe UI"/>
              </a:rPr>
              <a:t>Next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Manufacturer datasheet ingestion at scale — the PDF table extractor and the vision path are built and wired; they need a document source per SKU.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Learned confidence calibration: the review decisions already stored are the training signal for replacing the hand-set confidence constants.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Taxonomy expansion driven by what lands in General Product, so the schema grows from evidence rather than guesswork.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F242B"/>
                </a:solidFill>
                <a:latin typeface="Segoe UI"/>
              </a:rPr>
              <a:t>•  Persisted knowledge graph across runs, so peer consensus improves as the catalogue grows instead of being rebuilt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Provide links to your: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GitHub Public Repository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Demo Video Link (3 Minutes)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oogle Sans"/>
              <a:buAutoNum type="arabicPeriod"/>
            </a:pP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Working Prototype Link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384048" y="1737360"/>
            <a:ext cx="837590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3878"/>
                </a:solidFill>
                <a:latin typeface="Segoe UI"/>
              </a:rPr>
              <a:t>GitHub public repository</a:t>
            </a:r>
          </a:p>
          <a:p>
            <a:pPr algn="l">
              <a:spcAft>
                <a:spcPts val="1200"/>
              </a:spcAft>
            </a:pPr>
            <a:r>
              <a:rPr sz="1150" b="0">
                <a:solidFill>
                  <a:srgbClr val="5A6370"/>
                </a:solidFill>
                <a:latin typeface="Segoe UI"/>
              </a:rPr>
              <a:t>&lt;paste repository URL&gt;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3878"/>
                </a:solidFill>
                <a:latin typeface="Segoe UI"/>
              </a:rPr>
              <a:t>Demo video (3 minutes)</a:t>
            </a:r>
          </a:p>
          <a:p>
            <a:pPr algn="l">
              <a:spcAft>
                <a:spcPts val="1200"/>
              </a:spcAft>
            </a:pPr>
            <a:r>
              <a:rPr sz="1150" b="0">
                <a:solidFill>
                  <a:srgbClr val="5A6370"/>
                </a:solidFill>
                <a:latin typeface="Segoe UI"/>
              </a:rPr>
              <a:t>&lt;paste video URL&gt;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3878"/>
                </a:solidFill>
                <a:latin typeface="Segoe UI"/>
              </a:rPr>
              <a:t>Working prototype</a:t>
            </a:r>
          </a:p>
          <a:p>
            <a:pPr algn="l">
              <a:spcAft>
                <a:spcPts val="1200"/>
              </a:spcAft>
            </a:pPr>
            <a:r>
              <a:rPr sz="1150" b="0">
                <a:solidFill>
                  <a:srgbClr val="5A6370"/>
                </a:solidFill>
                <a:latin typeface="Segoe UI"/>
              </a:rPr>
              <a:t>&lt;paste Streamlit Cloud URL&gt;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