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  <p:sldMasterId id="2147483671" r:id="rId2"/>
  </p:sldMasterIdLst>
  <p:notesMasterIdLst>
    <p:notesMasterId r:id="rId16"/>
  </p:notesMasterIdLst>
  <p:sldIdLst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9144000" cy="5143500" type="screen16x9"/>
  <p:notesSz cx="6858000" cy="9144000"/>
  <p:embeddedFontLst>
    <p:embeddedFont>
      <p:font typeface="Google Sans" panose="020B0604020202020204" charset="0"/>
      <p:regular r:id="rId17"/>
      <p:bold r:id="rId18"/>
      <p:italic r:id="rId19"/>
      <p:boldItalic r:id="rId20"/>
    </p:embeddedFont>
    <p:embeddedFont>
      <p:font typeface="Segoe UI" panose="020B0502040204020203" pitchFamily="34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notesMaster" Target="notesMasters/notesMaster1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Relationship Id="rId22" Type="http://schemas.openxmlformats.org/officeDocument/2006/relationships/font" Target="fonts/font6.fntdata"/><Relationship Id="rId23" Type="http://schemas.openxmlformats.org/officeDocument/2006/relationships/font" Target="fonts/font7.fntdata"/><Relationship Id="rId24" Type="http://schemas.openxmlformats.org/officeDocument/2006/relationships/font" Target="fonts/font8.fntdata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f97113ba4d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4" name="Google Shape;104;g3f97113ba4d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f97113ba4d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0" name="Google Shape;110;g3f97113ba4d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971cbf117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f971cbf117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97113ba4d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2" name="Google Shape;122;g3f97113ba4d_0_1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f97113ba4d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g3f97113ba4d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97113ba4d_0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4" name="Google Shape;134;g3f97113ba4d_0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97113ba4d_0_1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6" name="Google Shape;146;g3f97113ba4d_0_1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f97113ba4d_0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2" name="Google Shape;152;g3f97113ba4d_0_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f97113ba4d_0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8" name="Google Shape;158;g3f97113ba4d_0_1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97113ba4d_0_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4" name="Google Shape;164;g3f97113ba4d_0_1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f97113ba4d_0_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0" name="Google Shape;170;g3f97113ba4d_0_1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f97113ba4d_0_1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g3f97113ba4d_0_1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f97113ba4d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g3f97113ba4d_0_1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8" name="Google Shape;68;p17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9" name="Google Shape;6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5" name="Google Shape;75;p19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9" name="Google Shape;79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1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3" name="Google Shape;83;p21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84" name="Google Shape;84;p21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5" name="Google Shape;85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88" name="Google Shape;88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2" name="Google Shape;92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hyperlink" Target="https://github.com/TheGodVishnu21/product-intelligence-engine" TargetMode="External"/><Relationship Id="rId5" Type="http://schemas.openxmlformats.org/officeDocument/2006/relationships/hyperlink" Target="https://catalog-intelligence-engine.streamlit.app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6" title="Framedede 2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3"/>
            <a:ext cx="9144003" cy="514347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6"/>
          <p:cNvSpPr txBox="1"/>
          <p:nvPr/>
        </p:nvSpPr>
        <p:spPr>
          <a:xfrm>
            <a:off x="186200" y="3221675"/>
            <a:ext cx="8760000" cy="168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 dirty="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Team Details</a:t>
            </a:r>
            <a:endParaRPr sz="1800" b="1" i="0" u="none" strike="noStrike" cap="none" dirty="0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 dirty="0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914400" marR="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lang="en-GB" sz="1800" b="1" i="0" u="none" strike="noStrike" cap="none" dirty="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Team name: Looser</a:t>
            </a:r>
            <a:endParaRPr sz="1800" b="1" i="0" u="none" strike="noStrike" cap="none" dirty="0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914400" marR="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lang="en-GB" sz="1800" b="1" i="0" u="none" strike="noStrike" cap="none" dirty="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Team leader name: Aditya Shukla </a:t>
            </a:r>
            <a:endParaRPr sz="1800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27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27"/>
          <p:cNvSpPr txBox="1"/>
          <p:nvPr/>
        </p:nvSpPr>
        <p:spPr>
          <a:xfrm>
            <a:off x="390000" y="775625"/>
            <a:ext cx="8364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i="0" u="none" strike="noStrike" cap="non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Brief about your solution</a:t>
            </a:r>
            <a:endParaRPr sz="180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384048" y="1481328"/>
            <a:ext cx="8375904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>
                <a:solidFill>
                  <a:srgbClr val="003878"/>
                </a:solidFill>
                <a:latin typeface="Segoe UI"/>
              </a:rPr>
              <a:t>Six columns in. 252 columns out.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1F242B"/>
                </a:solidFill>
                <a:latin typeface="Segoe UI"/>
              </a:rPr>
              <a:t>A distributor's catalogue arrives as a part number, a 35-character line of trade shorthand and three brand columns that are mostly placeholder markers. The Unilog delivery template asks for a full taxonomy path, six description variants, twenty feature bullets and sixty attribute triplets. Everything in between has to be recovered — and every recovered value has to be defensible.</a:t>
            </a:r>
          </a:p>
          <a:p>
            <a:pPr algn="l">
              <a:spcAft>
                <a:spcPts val="1400"/>
              </a:spcAft>
            </a:pPr>
            <a:r>
              <a:rPr sz="1250" b="0">
                <a:solidFill>
                  <a:srgbClr val="1F242B"/>
                </a:solidFill>
                <a:latin typeface="Segoe UI"/>
              </a:rPr>
              <a:t>The Product Intelligence Engine reads that shorthand the way a product manager does. It decodes what is deterministic, infers what the catalogue itself can support, asks a language model only for what is genuinely left, then judges its own output and routes anything it cannot defend to a human — with the evidence, source and confidence attached to every single value.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84048" y="3950208"/>
            <a:ext cx="1572768" cy="749808"/>
          </a:xfrm>
          <a:prstGeom prst="roundRect">
            <a:avLst/>
          </a:prstGeom>
          <a:solidFill>
            <a:srgbClr val="F1F4F8"/>
          </a:solidFill>
          <a:ln>
            <a:solidFill>
              <a:srgbClr val="F1F4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003878"/>
                </a:solidFill>
                <a:latin typeface="Segoe UI"/>
              </a:rPr>
              <a:t>1,000</a:t>
            </a:r>
          </a:p>
          <a:p>
            <a:pPr algn="ctr"/>
            <a:r>
              <a:rPr sz="850" b="0">
                <a:solidFill>
                  <a:srgbClr val="5A6370"/>
                </a:solidFill>
                <a:latin typeface="Segoe UI"/>
              </a:rPr>
              <a:t>rows processed in 7.2s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084831" y="3950208"/>
            <a:ext cx="1572768" cy="749808"/>
          </a:xfrm>
          <a:prstGeom prst="roundRect">
            <a:avLst/>
          </a:prstGeom>
          <a:solidFill>
            <a:srgbClr val="F1F4F8"/>
          </a:solidFill>
          <a:ln>
            <a:solidFill>
              <a:srgbClr val="F1F4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003878"/>
                </a:solidFill>
                <a:latin typeface="Segoe UI"/>
              </a:rPr>
              <a:t>7,330</a:t>
            </a:r>
          </a:p>
          <a:p>
            <a:pPr algn="ctr"/>
            <a:r>
              <a:rPr sz="850" b="0">
                <a:solidFill>
                  <a:srgbClr val="5A6370"/>
                </a:solidFill>
                <a:latin typeface="Segoe UI"/>
              </a:rPr>
              <a:t>fields recovered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3785615" y="3950208"/>
            <a:ext cx="1572768" cy="749808"/>
          </a:xfrm>
          <a:prstGeom prst="roundRect">
            <a:avLst/>
          </a:prstGeom>
          <a:solidFill>
            <a:srgbClr val="F1F4F8"/>
          </a:solidFill>
          <a:ln>
            <a:solidFill>
              <a:srgbClr val="F1F4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003878"/>
                </a:solidFill>
                <a:latin typeface="Segoe UI"/>
              </a:rPr>
              <a:t>96%</a:t>
            </a:r>
          </a:p>
          <a:p>
            <a:pPr algn="ctr"/>
            <a:r>
              <a:rPr sz="850" b="0">
                <a:solidFill>
                  <a:srgbClr val="5A6370"/>
                </a:solidFill>
                <a:latin typeface="Segoe UI"/>
              </a:rPr>
              <a:t>identity coverage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486400" y="3950208"/>
            <a:ext cx="1572768" cy="749808"/>
          </a:xfrm>
          <a:prstGeom prst="roundRect">
            <a:avLst/>
          </a:prstGeom>
          <a:solidFill>
            <a:srgbClr val="F1F4F8"/>
          </a:solidFill>
          <a:ln>
            <a:solidFill>
              <a:srgbClr val="F1F4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003878"/>
                </a:solidFill>
                <a:latin typeface="Segoe UI"/>
              </a:rPr>
              <a:t>100%</a:t>
            </a:r>
          </a:p>
          <a:p>
            <a:pPr algn="ctr"/>
            <a:r>
              <a:rPr sz="850" b="0">
                <a:solidFill>
                  <a:srgbClr val="5A6370"/>
                </a:solidFill>
                <a:latin typeface="Segoe UI"/>
              </a:rPr>
              <a:t>taxonomy coverage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7187183" y="3950208"/>
            <a:ext cx="1572768" cy="749808"/>
          </a:xfrm>
          <a:prstGeom prst="roundRect">
            <a:avLst/>
          </a:prstGeom>
          <a:solidFill>
            <a:srgbClr val="F1F4F8"/>
          </a:solidFill>
          <a:ln>
            <a:solidFill>
              <a:srgbClr val="F1F4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003878"/>
                </a:solidFill>
                <a:latin typeface="Segoe UI"/>
              </a:rPr>
              <a:t>83%</a:t>
            </a:r>
          </a:p>
          <a:p>
            <a:pPr algn="ctr"/>
            <a:r>
              <a:rPr sz="850" b="0">
                <a:solidFill>
                  <a:srgbClr val="5A6370"/>
                </a:solidFill>
                <a:latin typeface="Segoe UI"/>
              </a:rPr>
              <a:t>auto-approved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84048" y="4773168"/>
            <a:ext cx="837590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5A6370"/>
                </a:solidFill>
                <a:latin typeface="Segoe UI"/>
              </a:rPr>
              <a:t>With the model on a 100-row slice: quality 59.6 → 72.4, all six content columns filled, 5.9 attribute triplets per product, 411 calls, zero rate-limit failures.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8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28"/>
          <p:cNvSpPr txBox="1">
            <a:spLocks noGrp="1"/>
          </p:cNvSpPr>
          <p:nvPr>
            <p:ph type="ctrTitle"/>
          </p:nvPr>
        </p:nvSpPr>
        <p:spPr>
          <a:xfrm>
            <a:off x="224133" y="743250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endParaRPr sz="1000" i="1" dirty="0">
              <a:solidFill>
                <a:srgbClr val="434343"/>
              </a:solidFill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384048" y="1417320"/>
            <a:ext cx="837590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dirty="0">
                <a:solidFill>
                  <a:srgbClr val="003878"/>
                </a:solidFill>
                <a:latin typeface="Segoe UI"/>
              </a:rPr>
              <a:t>Worked example — one real row from the supplied file</a:t>
            </a:r>
          </a:p>
          <a:p>
            <a:pPr algn="l">
              <a:spcAft>
                <a:spcPts val="1000"/>
              </a:spcAft>
            </a:pPr>
            <a:r>
              <a:rPr sz="1050" b="0" dirty="0">
                <a:solidFill>
                  <a:srgbClr val="5A6370"/>
                </a:solidFill>
                <a:latin typeface="Segoe UI"/>
              </a:rPr>
              <a:t>IN:   3MABR-7100075678  |  "3M 775L </a:t>
            </a:r>
            <a:r>
              <a:rPr sz="1050" b="0" dirty="0" err="1">
                <a:solidFill>
                  <a:srgbClr val="5A6370"/>
                </a:solidFill>
                <a:latin typeface="Segoe UI"/>
              </a:rPr>
              <a:t>Stikit</a:t>
            </a:r>
            <a:r>
              <a:rPr sz="1050" b="0" dirty="0">
                <a:solidFill>
                  <a:srgbClr val="5A6370"/>
                </a:solidFill>
                <a:latin typeface="Segoe UI"/>
              </a:rPr>
              <a:t> Film P150 - </a:t>
            </a:r>
            <a:r>
              <a:rPr sz="1050" b="0" dirty="0" err="1">
                <a:solidFill>
                  <a:srgbClr val="5A6370"/>
                </a:solidFill>
                <a:latin typeface="Segoe UI"/>
              </a:rPr>
              <a:t>Cubitron</a:t>
            </a:r>
            <a:r>
              <a:rPr sz="1050" b="0" dirty="0">
                <a:solidFill>
                  <a:srgbClr val="5A6370"/>
                </a:solidFill>
                <a:latin typeface="Segoe UI"/>
              </a:rPr>
              <a:t> II 50 Disc/Box"  |  brand: -- Unbranded --  |  </a:t>
            </a:r>
            <a:r>
              <a:rPr sz="1050" b="0" dirty="0" err="1">
                <a:solidFill>
                  <a:srgbClr val="5A6370"/>
                </a:solidFill>
                <a:latin typeface="Segoe UI"/>
              </a:rPr>
              <a:t>Part_Manuf</a:t>
            </a:r>
            <a:r>
              <a:rPr sz="1050" b="0" dirty="0">
                <a:solidFill>
                  <a:srgbClr val="5A6370"/>
                </a:solidFill>
                <a:latin typeface="Segoe UI"/>
              </a:rPr>
              <a:t>: Jam Industrial Supply LLC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84048" y="2212848"/>
            <a:ext cx="932688" cy="384048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Decode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08176" y="2194560"/>
            <a:ext cx="312724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80" b="0">
                <a:solidFill>
                  <a:srgbClr val="1F242B"/>
                </a:solidFill>
                <a:latin typeface="Segoe UI"/>
              </a:rPr>
              <a:t>Trade shorthand is parsed, not guessed: form, grit P150, attachment system, pack quantity, selling unit — no model call.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645152" y="2212848"/>
            <a:ext cx="932688" cy="384048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Identify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669280" y="2194560"/>
            <a:ext cx="312724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80" b="0">
                <a:solidFill>
                  <a:srgbClr val="1F242B"/>
                </a:solidFill>
                <a:latin typeface="Segoe UI"/>
              </a:rPr>
              <a:t>Part_Manuf is the account bought from, not the maker. It is published as supplier; 3M is recovered as brand and manufacturer from the description.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84048" y="3054096"/>
            <a:ext cx="932688" cy="384048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Classify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408176" y="3035808"/>
            <a:ext cx="312724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80" b="0">
                <a:solidFill>
                  <a:srgbClr val="1F242B"/>
                </a:solidFill>
                <a:latin typeface="Segoe UI"/>
              </a:rPr>
              <a:t>Keyword classifier settles 71% of the file; the model escalates the rest into the 26-class taxonomy.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645152" y="3054096"/>
            <a:ext cx="932688" cy="384048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Infer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669280" y="3035808"/>
            <a:ext cx="312724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80" b="0">
                <a:solidFill>
                  <a:srgbClr val="1F242B"/>
                </a:solidFill>
                <a:latin typeface="Segoe UI"/>
              </a:rPr>
              <a:t>Catalogue peers fill gaps — but brand-scoped attributes are refused outside a brand-scoped peer group, so 3M's series never lands on a Diablo belt.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384048" y="3895344"/>
            <a:ext cx="932688" cy="384048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Write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408176" y="3877056"/>
            <a:ext cx="312724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80" b="0">
                <a:solidFill>
                  <a:srgbClr val="1F242B"/>
                </a:solidFill>
                <a:latin typeface="Segoe UI"/>
              </a:rPr>
              <a:t>Six commerce descriptions and the feature bullets are generated to the template's own length targets.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645152" y="3895344"/>
            <a:ext cx="932688" cy="384048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Judge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69280" y="3877056"/>
            <a:ext cx="312724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80" b="0">
                <a:solidFill>
                  <a:srgbClr val="1F242B"/>
                </a:solidFill>
                <a:latin typeface="Segoe UI"/>
              </a:rPr>
              <a:t>A model reviews the finished record; anything unsupported is flagged, de-confidenced and queued for a human.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9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9"/>
          <p:cNvSpPr txBox="1"/>
          <p:nvPr/>
        </p:nvSpPr>
        <p:spPr>
          <a:xfrm>
            <a:off x="183250" y="818550"/>
            <a:ext cx="8784300" cy="14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 dirty="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Opportunities</a:t>
            </a:r>
            <a:endParaRPr sz="1800" b="0" i="0" u="none" strike="noStrike" cap="none" dirty="0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242799" y="1247087"/>
            <a:ext cx="837590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dirty="0">
                <a:solidFill>
                  <a:srgbClr val="003878"/>
                </a:solidFill>
                <a:latin typeface="Segoe UI"/>
              </a:rPr>
              <a:t>Different from an "AI enrichment" wrapper</a:t>
            </a:r>
          </a:p>
          <a:p>
            <a:pPr algn="l">
              <a:spcAft>
                <a:spcPts val="700"/>
              </a:spcAft>
            </a:pPr>
            <a:r>
              <a:rPr sz="1150" b="0" dirty="0">
                <a:solidFill>
                  <a:srgbClr val="1F242B"/>
                </a:solidFill>
                <a:latin typeface="Segoe UI"/>
              </a:rPr>
              <a:t>•  Deterministic first. The decoders cover all 1,000 rows in 7.2 seconds with no API key at all. The model is the last resort, not the pipeline.</a:t>
            </a:r>
          </a:p>
          <a:p>
            <a:pPr algn="l">
              <a:spcAft>
                <a:spcPts val="700"/>
              </a:spcAft>
            </a:pPr>
            <a:r>
              <a:rPr sz="1150" b="0" dirty="0">
                <a:solidFill>
                  <a:srgbClr val="1F242B"/>
                </a:solidFill>
                <a:latin typeface="Segoe UI"/>
              </a:rPr>
              <a:t>•  Every value carries method, source, evidence and confidence — a buyer can ask "why does this say P150?" and get an answer, not a vibe.</a:t>
            </a:r>
          </a:p>
          <a:p>
            <a:pPr algn="l">
              <a:spcAft>
                <a:spcPts val="700"/>
              </a:spcAft>
            </a:pPr>
            <a:r>
              <a:rPr sz="1150" b="0" dirty="0">
                <a:solidFill>
                  <a:srgbClr val="1F242B"/>
                </a:solidFill>
                <a:latin typeface="Segoe UI"/>
              </a:rPr>
              <a:t>•  It scores itself. Quality is decomposed into completeness, accuracy, consistency and richness, measured before and after, so uplift is a number and not a claim.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300" b="1" dirty="0">
                <a:solidFill>
                  <a:srgbClr val="003878"/>
                </a:solidFill>
                <a:latin typeface="Segoe UI"/>
              </a:rPr>
              <a:t>How it solves the problem statement</a:t>
            </a:r>
          </a:p>
          <a:p>
            <a:pPr algn="l">
              <a:spcAft>
                <a:spcPts val="700"/>
              </a:spcAft>
            </a:pPr>
            <a:r>
              <a:rPr sz="1150" b="0" dirty="0">
                <a:solidFill>
                  <a:srgbClr val="1F242B"/>
                </a:solidFill>
                <a:latin typeface="Segoe UI"/>
              </a:rPr>
              <a:t>•  252-column delivery template filled directly — column order is read from the template file at runtime, so a revised template needs no code change.</a:t>
            </a:r>
          </a:p>
          <a:p>
            <a:pPr algn="l">
              <a:spcAft>
                <a:spcPts val="700"/>
              </a:spcAft>
            </a:pPr>
            <a:r>
              <a:rPr sz="1150" b="0" dirty="0">
                <a:solidFill>
                  <a:srgbClr val="1F242B"/>
                </a:solidFill>
                <a:latin typeface="Segoe UI"/>
              </a:rPr>
              <a:t>•  Blank beats wrong: anything below the publish floor is held back and queued, because a blank cell is recoverable and a confident wrong value is not.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300" b="1" dirty="0">
                <a:solidFill>
                  <a:srgbClr val="003878"/>
                </a:solidFill>
                <a:latin typeface="Segoe UI"/>
              </a:rPr>
              <a:t>USP</a:t>
            </a:r>
          </a:p>
          <a:p>
            <a:pPr algn="l">
              <a:spcAft>
                <a:spcPts val="600"/>
              </a:spcAft>
            </a:pPr>
            <a:r>
              <a:rPr sz="1150" b="0" dirty="0">
                <a:solidFill>
                  <a:srgbClr val="C2412B"/>
                </a:solidFill>
                <a:latin typeface="Segoe UI"/>
              </a:rPr>
              <a:t>An enrichment engine that argues with itself. Switching the model on initially made the quality score fall — because the judge had started catching two real defects nobody had checked for. Both were fixed at the source. That is the difference between filling cells and shipping a catalogue.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30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30"/>
          <p:cNvSpPr txBox="1"/>
          <p:nvPr/>
        </p:nvSpPr>
        <p:spPr>
          <a:xfrm>
            <a:off x="195475" y="855225"/>
            <a:ext cx="8698800" cy="54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List of features offered by the solution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384048" y="1517904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03878"/>
                </a:solidFill>
                <a:latin typeface="Segoe UI"/>
              </a:rPr>
              <a:t>Trade-shorthand decoder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84048" y="1737360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80" b="0">
                <a:solidFill>
                  <a:srgbClr val="1F242B"/>
                </a:solidFill>
                <a:latin typeface="Segoe UI"/>
              </a:rPr>
              <a:t>Form, grit, dimensions, colour, base type, pack quantity and selling unit parsed from a 35-character line.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645152" y="1517904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03878"/>
                </a:solidFill>
                <a:latin typeface="Segoe UI"/>
              </a:rPr>
              <a:t>Identity resolution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645152" y="1737360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80" b="0">
                <a:solidFill>
                  <a:srgbClr val="1F242B"/>
                </a:solidFill>
                <a:latin typeface="Segoe UI"/>
              </a:rPr>
              <a:t>Supplier account vs brand vs manufacturer, separated and published on the right lines — 552 brands recovered.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84048" y="2304288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03878"/>
                </a:solidFill>
                <a:latin typeface="Segoe UI"/>
              </a:rPr>
              <a:t>26-class taxonomy + escalation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84048" y="2523744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80" b="0">
                <a:solidFill>
                  <a:srgbClr val="1F242B"/>
                </a:solidFill>
                <a:latin typeface="Segoe UI"/>
              </a:rPr>
              <a:t>Keyword classifier, then LLM escalation for what it cannot settle. Dept / Class / Fine path filled 100%.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645152" y="2304288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03878"/>
                </a:solidFill>
                <a:latin typeface="Segoe UI"/>
              </a:rPr>
              <a:t>Catalogue knowledge graph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645152" y="2523744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80" b="0">
                <a:solidFill>
                  <a:srgbClr val="1F242B"/>
                </a:solidFill>
                <a:latin typeface="Segoe UI"/>
              </a:rPr>
              <a:t>Peer consensus fills gaps and exposes outliers — scoped so inference never crosses a brand boundary.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84048" y="3090672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03878"/>
                </a:solidFill>
                <a:latin typeface="Segoe UI"/>
              </a:rPr>
              <a:t>Commerce content generation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84048" y="3310128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80" b="0">
                <a:solidFill>
                  <a:srgbClr val="1F242B"/>
                </a:solidFill>
                <a:latin typeface="Segoe UI"/>
              </a:rPr>
              <a:t>Six description variants and twenty feature bullets, written to the template's own length targets.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645152" y="3090672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03878"/>
                </a:solidFill>
                <a:latin typeface="Segoe UI"/>
              </a:rPr>
              <a:t>LLM judge + rule engine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645152" y="3310128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80" b="0">
                <a:solidFill>
                  <a:srgbClr val="1F242B"/>
                </a:solidFill>
                <a:latin typeface="Segoe UI"/>
              </a:rPr>
              <a:t>Unit sanity, magnitude plausibility, internal contradiction and evidence-support checks.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84048" y="3877056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03878"/>
                </a:solidFill>
                <a:latin typeface="Segoe UI"/>
              </a:rPr>
              <a:t>Human review queue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84048" y="4096512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80" b="0">
                <a:solidFill>
                  <a:srgbClr val="1F242B"/>
                </a:solidFill>
                <a:latin typeface="Segoe UI"/>
              </a:rPr>
              <a:t>Approve / correct / reject with notes; every decision is stored and turned into reviewer calibration.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645152" y="3877056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03878"/>
                </a:solidFill>
                <a:latin typeface="Segoe UI"/>
              </a:rPr>
              <a:t>Evidence-first export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645152" y="4096512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80" b="0">
                <a:solidFill>
                  <a:srgbClr val="1F242B"/>
                </a:solidFill>
                <a:latin typeface="Segoe UI"/>
              </a:rPr>
              <a:t>252-column delivery CSV, flat catalogue CSV, full audit JSON, open-queue CSV.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31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31"/>
          <p:cNvSpPr txBox="1"/>
          <p:nvPr/>
        </p:nvSpPr>
        <p:spPr>
          <a:xfrm>
            <a:off x="195475" y="830775"/>
            <a:ext cx="8772000" cy="5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Process flow diagram or Use-case diagram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38" name="Rounded Rectangle 137"/>
          <p:cNvSpPr/>
          <p:nvPr/>
        </p:nvSpPr>
        <p:spPr>
          <a:xfrm>
            <a:off x="384048" y="1627632"/>
            <a:ext cx="1481328" cy="658368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Ingest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84048" y="2322576"/>
            <a:ext cx="148132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>
                <a:solidFill>
                  <a:srgbClr val="5A6370"/>
                </a:solidFill>
                <a:latin typeface="Segoe UI"/>
              </a:rPr>
              <a:t>6 columns
header mapping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1865376" y="1956816"/>
            <a:ext cx="237744" cy="0"/>
          </a:xfrm>
          <a:prstGeom prst="line">
            <a:avLst/>
          </a:prstGeom>
          <a:ln w="19050">
            <a:solidFill>
              <a:srgbClr val="003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ounded Rectangle 140"/>
          <p:cNvSpPr/>
          <p:nvPr/>
        </p:nvSpPr>
        <p:spPr>
          <a:xfrm>
            <a:off x="2103120" y="1627632"/>
            <a:ext cx="1481328" cy="658368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Classify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103120" y="2322576"/>
            <a:ext cx="148132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>
                <a:solidFill>
                  <a:srgbClr val="5A6370"/>
                </a:solidFill>
                <a:latin typeface="Segoe UI"/>
              </a:rPr>
              <a:t>keyword →
LLM escalation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3584448" y="1956816"/>
            <a:ext cx="237744" cy="0"/>
          </a:xfrm>
          <a:prstGeom prst="line">
            <a:avLst/>
          </a:prstGeom>
          <a:ln w="19050">
            <a:solidFill>
              <a:srgbClr val="003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ounded Rectangle 143"/>
          <p:cNvSpPr/>
          <p:nvPr/>
        </p:nvSpPr>
        <p:spPr>
          <a:xfrm>
            <a:off x="3822192" y="1627632"/>
            <a:ext cx="1481328" cy="658368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Decode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822192" y="2322576"/>
            <a:ext cx="148132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>
                <a:solidFill>
                  <a:srgbClr val="5A6370"/>
                </a:solidFill>
                <a:latin typeface="Segoe UI"/>
              </a:rPr>
              <a:t>shorthand,
units, enums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5303520" y="1956816"/>
            <a:ext cx="237744" cy="0"/>
          </a:xfrm>
          <a:prstGeom prst="line">
            <a:avLst/>
          </a:prstGeom>
          <a:ln w="19050">
            <a:solidFill>
              <a:srgbClr val="003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ounded Rectangle 146"/>
          <p:cNvSpPr/>
          <p:nvPr/>
        </p:nvSpPr>
        <p:spPr>
          <a:xfrm>
            <a:off x="5541264" y="1627632"/>
            <a:ext cx="1481328" cy="658368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Resolve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541264" y="2322576"/>
            <a:ext cx="148132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>
                <a:solidFill>
                  <a:srgbClr val="5A6370"/>
                </a:solidFill>
                <a:latin typeface="Segoe UI"/>
              </a:rPr>
              <a:t>golden record
source precedence</a:t>
            </a:r>
          </a:p>
        </p:txBody>
      </p:sp>
      <p:cxnSp>
        <p:nvCxnSpPr>
          <p:cNvPr id="149" name="Connector 148"/>
          <p:cNvCxnSpPr/>
          <p:nvPr/>
        </p:nvCxnSpPr>
        <p:spPr>
          <a:xfrm>
            <a:off x="7022592" y="1956816"/>
            <a:ext cx="237744" cy="0"/>
          </a:xfrm>
          <a:prstGeom prst="line">
            <a:avLst/>
          </a:prstGeom>
          <a:ln w="19050">
            <a:solidFill>
              <a:srgbClr val="003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ounded Rectangle 149"/>
          <p:cNvSpPr/>
          <p:nvPr/>
        </p:nvSpPr>
        <p:spPr>
          <a:xfrm>
            <a:off x="7260336" y="1627632"/>
            <a:ext cx="1481328" cy="658368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Validate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260336" y="2322576"/>
            <a:ext cx="148132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>
                <a:solidFill>
                  <a:srgbClr val="5A6370"/>
                </a:solidFill>
                <a:latin typeface="Segoe UI"/>
              </a:rPr>
              <a:t>rules, ranges,
contradictions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384048" y="3072384"/>
            <a:ext cx="1481328" cy="658368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Enrich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84048" y="3767328"/>
            <a:ext cx="148132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>
                <a:solidFill>
                  <a:srgbClr val="5A6370"/>
                </a:solidFill>
                <a:latin typeface="Segoe UI"/>
              </a:rPr>
              <a:t>peers → graph
→ LLM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1865376" y="3401568"/>
            <a:ext cx="237744" cy="0"/>
          </a:xfrm>
          <a:prstGeom prst="line">
            <a:avLst/>
          </a:prstGeom>
          <a:ln w="19050">
            <a:solidFill>
              <a:srgbClr val="003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Rounded Rectangle 154"/>
          <p:cNvSpPr/>
          <p:nvPr/>
        </p:nvSpPr>
        <p:spPr>
          <a:xfrm>
            <a:off x="2103120" y="3072384"/>
            <a:ext cx="1481328" cy="658368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Generate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103120" y="3767328"/>
            <a:ext cx="148132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>
                <a:solidFill>
                  <a:srgbClr val="5A6370"/>
                </a:solidFill>
                <a:latin typeface="Segoe UI"/>
              </a:rPr>
              <a:t>6 descriptions
20 features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3584448" y="3401568"/>
            <a:ext cx="237744" cy="0"/>
          </a:xfrm>
          <a:prstGeom prst="line">
            <a:avLst/>
          </a:prstGeom>
          <a:ln w="19050">
            <a:solidFill>
              <a:srgbClr val="003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ounded Rectangle 157"/>
          <p:cNvSpPr/>
          <p:nvPr/>
        </p:nvSpPr>
        <p:spPr>
          <a:xfrm>
            <a:off x="3822192" y="3072384"/>
            <a:ext cx="1481328" cy="658368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Judge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822192" y="3767328"/>
            <a:ext cx="148132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>
                <a:solidFill>
                  <a:srgbClr val="5A6370"/>
                </a:solidFill>
                <a:latin typeface="Segoe UI"/>
              </a:rPr>
              <a:t>LLM review
de-confidence</a:t>
            </a:r>
          </a:p>
        </p:txBody>
      </p:sp>
      <p:cxnSp>
        <p:nvCxnSpPr>
          <p:cNvPr id="160" name="Connector 159"/>
          <p:cNvCxnSpPr/>
          <p:nvPr/>
        </p:nvCxnSpPr>
        <p:spPr>
          <a:xfrm>
            <a:off x="5303520" y="3401568"/>
            <a:ext cx="237744" cy="0"/>
          </a:xfrm>
          <a:prstGeom prst="line">
            <a:avLst/>
          </a:prstGeom>
          <a:ln w="19050">
            <a:solidFill>
              <a:srgbClr val="003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ounded Rectangle 160"/>
          <p:cNvSpPr/>
          <p:nvPr/>
        </p:nvSpPr>
        <p:spPr>
          <a:xfrm>
            <a:off x="5541264" y="3072384"/>
            <a:ext cx="1481328" cy="658368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Route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541264" y="3767328"/>
            <a:ext cx="148132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>
                <a:solidFill>
                  <a:srgbClr val="5A6370"/>
                </a:solidFill>
                <a:latin typeface="Segoe UI"/>
              </a:rPr>
              <a:t>auto-approve
or human queue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7022592" y="3401568"/>
            <a:ext cx="237744" cy="0"/>
          </a:xfrm>
          <a:prstGeom prst="line">
            <a:avLst/>
          </a:prstGeom>
          <a:ln w="19050">
            <a:solidFill>
              <a:srgbClr val="003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ounded Rectangle 163"/>
          <p:cNvSpPr/>
          <p:nvPr/>
        </p:nvSpPr>
        <p:spPr>
          <a:xfrm>
            <a:off x="7260336" y="3072384"/>
            <a:ext cx="1481328" cy="658368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Export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260336" y="3767328"/>
            <a:ext cx="148132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>
                <a:solidFill>
                  <a:srgbClr val="5A6370"/>
                </a:solidFill>
                <a:latin typeface="Segoe UI"/>
              </a:rPr>
              <a:t>252-column
delivery CSV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8595360" y="2286000"/>
            <a:ext cx="0" cy="393192"/>
          </a:xfrm>
          <a:prstGeom prst="line">
            <a:avLst/>
          </a:prstGeom>
          <a:ln w="19050">
            <a:solidFill>
              <a:srgbClr val="003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H="1">
            <a:off x="530352" y="2679192"/>
            <a:ext cx="8065008" cy="0"/>
          </a:xfrm>
          <a:prstGeom prst="line">
            <a:avLst/>
          </a:prstGeom>
          <a:ln w="19050">
            <a:solidFill>
              <a:srgbClr val="003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530352" y="2679192"/>
            <a:ext cx="0" cy="393192"/>
          </a:xfrm>
          <a:prstGeom prst="line">
            <a:avLst/>
          </a:prstGeom>
          <a:ln w="19050">
            <a:solidFill>
              <a:srgbClr val="003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/>
          <p:cNvSpPr txBox="1"/>
          <p:nvPr/>
        </p:nvSpPr>
        <p:spPr>
          <a:xfrm>
            <a:off x="384048" y="4315968"/>
            <a:ext cx="837590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C2412B"/>
                </a:solidFill>
                <a:latin typeface="Segoe UI"/>
              </a:rPr>
              <a:t>↺  reviewer corrections re-enter the record and re-score it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84048" y="4590288"/>
            <a:ext cx="837590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5A6370"/>
                </a:solidFill>
                <a:latin typeface="Segoe UI"/>
              </a:rPr>
              <a:t>No model call happens until the deterministic stages have taken everything they can.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33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3"/>
          <p:cNvSpPr txBox="1"/>
          <p:nvPr/>
        </p:nvSpPr>
        <p:spPr>
          <a:xfrm>
            <a:off x="171050" y="867425"/>
            <a:ext cx="8820900" cy="5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Architecture diagram of the proposed solution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50" name="Rounded Rectangle 149"/>
          <p:cNvSpPr/>
          <p:nvPr/>
        </p:nvSpPr>
        <p:spPr>
          <a:xfrm>
            <a:off x="384048" y="1572768"/>
            <a:ext cx="1536192" cy="676656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Interface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2084832" y="1572768"/>
            <a:ext cx="2151887" cy="676656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900" b="0">
                <a:solidFill>
                  <a:srgbClr val="1F242B"/>
                </a:solidFill>
                <a:latin typeface="Segoe UI"/>
              </a:rPr>
              <a:t>Streamlit app — 6 pages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4346448" y="1572768"/>
            <a:ext cx="2151887" cy="676656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900" b="0">
                <a:solidFill>
                  <a:srgbClr val="1F242B"/>
                </a:solidFill>
                <a:latin typeface="Segoe UI"/>
              </a:rPr>
              <a:t>Headless CLI runner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608064" y="1572768"/>
            <a:ext cx="2151887" cy="676656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900" b="0">
                <a:solidFill>
                  <a:srgbClr val="1F242B"/>
                </a:solidFill>
                <a:latin typeface="Segoe UI"/>
              </a:rPr>
              <a:t>252-column exporter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384048" y="2359152"/>
            <a:ext cx="1536192" cy="676656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Intelligence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2084832" y="2359152"/>
            <a:ext cx="1586484" cy="676656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900" b="0">
                <a:solidFill>
                  <a:srgbClr val="1F242B"/>
                </a:solidFill>
                <a:latin typeface="Segoe UI"/>
              </a:rPr>
              <a:t>Trade-shorthand decoders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3781044" y="2359152"/>
            <a:ext cx="1586484" cy="676656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900" b="0">
                <a:solidFill>
                  <a:srgbClr val="1F242B"/>
                </a:solidFill>
                <a:latin typeface="Segoe UI"/>
              </a:rPr>
              <a:t>Identity resolver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5477256" y="2359152"/>
            <a:ext cx="1586484" cy="676656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900" b="0">
                <a:solidFill>
                  <a:srgbClr val="1F242B"/>
                </a:solidFill>
                <a:latin typeface="Segoe UI"/>
              </a:rPr>
              <a:t>Knowledge graph + RAG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7173468" y="2359152"/>
            <a:ext cx="1586484" cy="676656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900" b="0">
                <a:solidFill>
                  <a:srgbClr val="1F242B"/>
                </a:solidFill>
                <a:latin typeface="Segoe UI"/>
              </a:rPr>
              <a:t>LLM extract / generate / judge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84048" y="3145536"/>
            <a:ext cx="1536192" cy="676656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Contract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2084832" y="3145536"/>
            <a:ext cx="2151887" cy="676656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900" b="0">
                <a:solidFill>
                  <a:srgbClr val="1F242B"/>
                </a:solidFill>
                <a:latin typeface="Segoe UI"/>
              </a:rPr>
              <a:t>attributes.json — 26 classes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346448" y="3145536"/>
            <a:ext cx="2151887" cy="676656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900" b="0">
                <a:solidFill>
                  <a:srgbClr val="1F242B"/>
                </a:solidFill>
                <a:latin typeface="Segoe UI"/>
              </a:rPr>
              <a:t>Delivery template header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6608064" y="3145536"/>
            <a:ext cx="2151887" cy="676656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900" b="0">
                <a:solidFill>
                  <a:srgbClr val="1F242B"/>
                </a:solidFill>
                <a:latin typeface="Segoe UI"/>
              </a:rPr>
              <a:t>Quality scorer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84048" y="3931920"/>
            <a:ext cx="1536192" cy="676656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Foundation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2084832" y="3931920"/>
            <a:ext cx="2151887" cy="676656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900" b="0">
                <a:solidFill>
                  <a:srgbClr val="1F242B"/>
                </a:solidFill>
                <a:latin typeface="Segoe UI"/>
              </a:rPr>
              <a:t>Provider-agnostic LLM client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4346448" y="3931920"/>
            <a:ext cx="2151887" cy="676656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900" b="0">
                <a:solidFill>
                  <a:srgbClr val="1F242B"/>
                </a:solidFill>
                <a:latin typeface="Segoe UI"/>
              </a:rPr>
              <a:t>SQLite store + prompt cache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608064" y="3931920"/>
            <a:ext cx="2151887" cy="676656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900" b="0">
                <a:solidFill>
                  <a:srgbClr val="1F242B"/>
                </a:solidFill>
                <a:latin typeface="Segoe UI"/>
              </a:rPr>
              <a:t>Rate limiter + retry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84048" y="4773168"/>
            <a:ext cx="837590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5A6370"/>
                </a:solidFill>
                <a:latin typeface="Segoe UI"/>
              </a:rPr>
              <a:t>Anthropic · Gemini · OpenAI · Groq — first provider with a key wins, and a failure falls through to the next, so one vendor's rate limit cannot stop a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34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34"/>
          <p:cNvSpPr txBox="1"/>
          <p:nvPr/>
        </p:nvSpPr>
        <p:spPr>
          <a:xfrm>
            <a:off x="158825" y="855225"/>
            <a:ext cx="8784300" cy="112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Technologies used in the solution</a:t>
            </a:r>
            <a:endParaRPr sz="12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56" name="Rounded Rectangle 155"/>
          <p:cNvSpPr/>
          <p:nvPr/>
        </p:nvSpPr>
        <p:spPr>
          <a:xfrm>
            <a:off x="384048" y="1572768"/>
            <a:ext cx="1572768" cy="365760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Core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121408" y="1636776"/>
            <a:ext cx="663854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F242B"/>
                </a:solidFill>
                <a:latin typeface="Segoe UI"/>
              </a:rPr>
              <a:t>Python 3.13 · pydantic · pandas · numpy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384048" y="2020824"/>
            <a:ext cx="1572768" cy="365760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Intelligence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121408" y="2084831"/>
            <a:ext cx="663854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F242B"/>
                </a:solidFill>
                <a:latin typeface="Segoe UI"/>
              </a:rPr>
              <a:t>Gemini 3.1 Flash-Lite (bulk) · Gemini 3.6 Flash (vision) · provider-agnostic client with Anthropic / OpenAI / Groq fallback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384048" y="2468880"/>
            <a:ext cx="1572768" cy="365760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Retrieval &amp; graph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121408" y="2532888"/>
            <a:ext cx="663854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F242B"/>
                </a:solidFill>
                <a:latin typeface="Segoe UI"/>
              </a:rPr>
              <a:t>networkx knowledge graph · TF-IDF peer retrieval (scikit-learn) · rapidfuzz alias matching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384048" y="2916936"/>
            <a:ext cx="1572768" cy="365760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Documents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21408" y="2980944"/>
            <a:ext cx="663854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F242B"/>
                </a:solidFill>
                <a:latin typeface="Segoe UI"/>
              </a:rPr>
              <a:t>PyMuPDF for datasheet tables · Pillow for image evidence · openpyxl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384048" y="3364991"/>
            <a:ext cx="1572768" cy="365760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Interface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21408" y="3428999"/>
            <a:ext cx="663854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F242B"/>
                </a:solidFill>
                <a:latin typeface="Segoe UI"/>
              </a:rPr>
              <a:t>Streamlit · Plotly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384048" y="3813048"/>
            <a:ext cx="1572768" cy="365760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Storage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121408" y="3877056"/>
            <a:ext cx="663854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F242B"/>
                </a:solidFill>
                <a:latin typeface="Segoe UI"/>
              </a:rPr>
              <a:t>SQLite — catalogue, runs, review decisions and the prompt cache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384048" y="4261104"/>
            <a:ext cx="1572768" cy="365760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Quality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121408" y="4325112"/>
            <a:ext cx="663854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F242B"/>
                </a:solidFill>
                <a:latin typeface="Segoe UI"/>
              </a:rPr>
              <a:t>pytest — 35 tests over decoding, identity and request pacing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35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35"/>
          <p:cNvSpPr txBox="1"/>
          <p:nvPr/>
        </p:nvSpPr>
        <p:spPr>
          <a:xfrm>
            <a:off x="158825" y="818550"/>
            <a:ext cx="8845200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Estimated implementation cost (optional)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384048" y="1463040"/>
            <a:ext cx="83759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>
                <a:solidFill>
                  <a:srgbClr val="003878"/>
                </a:solidFill>
                <a:latin typeface="Segoe UI"/>
              </a:rPr>
              <a:t>The deterministic pass is the product. The model is an optional accelerant.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84048" y="1993392"/>
            <a:ext cx="1997964" cy="749808"/>
          </a:xfrm>
          <a:prstGeom prst="roundRect">
            <a:avLst/>
          </a:prstGeom>
          <a:solidFill>
            <a:srgbClr val="F1F4F8"/>
          </a:solidFill>
          <a:ln>
            <a:solidFill>
              <a:srgbClr val="F1F4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003878"/>
                </a:solidFill>
                <a:latin typeface="Segoe UI"/>
              </a:rPr>
              <a:t>₹0</a:t>
            </a:r>
          </a:p>
          <a:p>
            <a:pPr algn="ctr"/>
            <a:r>
              <a:rPr sz="850" b="0">
                <a:solidFill>
                  <a:srgbClr val="5A6370"/>
                </a:solidFill>
                <a:latin typeface="Segoe UI"/>
              </a:rPr>
              <a:t>full 1,000-row deterministic pass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2510028" y="1993392"/>
            <a:ext cx="1997964" cy="749808"/>
          </a:xfrm>
          <a:prstGeom prst="roundRect">
            <a:avLst/>
          </a:prstGeom>
          <a:solidFill>
            <a:srgbClr val="F1F4F8"/>
          </a:solidFill>
          <a:ln>
            <a:solidFill>
              <a:srgbClr val="F1F4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003878"/>
                </a:solidFill>
                <a:latin typeface="Segoe UI"/>
              </a:rPr>
              <a:t>7.2s</a:t>
            </a:r>
          </a:p>
          <a:p>
            <a:pPr algn="ctr"/>
            <a:r>
              <a:rPr sz="850" b="0">
                <a:solidFill>
                  <a:srgbClr val="5A6370"/>
                </a:solidFill>
                <a:latin typeface="Segoe UI"/>
              </a:rPr>
              <a:t>end to end, no network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4636008" y="1993392"/>
            <a:ext cx="1997964" cy="749808"/>
          </a:xfrm>
          <a:prstGeom prst="roundRect">
            <a:avLst/>
          </a:prstGeom>
          <a:solidFill>
            <a:srgbClr val="F1F4F8"/>
          </a:solidFill>
          <a:ln>
            <a:solidFill>
              <a:srgbClr val="F1F4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003878"/>
                </a:solidFill>
                <a:latin typeface="Segoe UI"/>
              </a:rPr>
              <a:t>~4,000</a:t>
            </a:r>
          </a:p>
          <a:p>
            <a:pPr algn="ctr"/>
            <a:r>
              <a:rPr sz="850" b="0">
                <a:solidFill>
                  <a:srgbClr val="5A6370"/>
                </a:solidFill>
                <a:latin typeface="Segoe UI"/>
              </a:rPr>
              <a:t>model calls for a full LLM pass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761988" y="1993392"/>
            <a:ext cx="1997964" cy="749808"/>
          </a:xfrm>
          <a:prstGeom prst="roundRect">
            <a:avLst/>
          </a:prstGeom>
          <a:solidFill>
            <a:srgbClr val="F1F4F8"/>
          </a:solidFill>
          <a:ln>
            <a:solidFill>
              <a:srgbClr val="F1F4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003878"/>
                </a:solidFill>
                <a:latin typeface="Segoe UI"/>
              </a:rPr>
              <a:t>15 RPM</a:t>
            </a:r>
          </a:p>
          <a:p>
            <a:pPr algn="ctr"/>
            <a:r>
              <a:rPr sz="850" b="0">
                <a:solidFill>
                  <a:srgbClr val="5A6370"/>
                </a:solidFill>
                <a:latin typeface="Segoe UI"/>
              </a:rPr>
              <a:t>free-tier ceiling per model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84048" y="2999232"/>
            <a:ext cx="8375904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1F242B"/>
                </a:solidFill>
                <a:latin typeface="Segoe UI"/>
              </a:rPr>
              <a:t>•  Running the whole file through the model on a free tier takes about five hours — so the engine is built so that it never has to. Deterministic decoding covers all 1,000 rows; the model is pointed at what is left.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1F242B"/>
                </a:solidFill>
                <a:latin typeface="Segoe UI"/>
              </a:rPr>
              <a:t>•  Every completion is cached by (provider, model, prompt) hash, so a re-run during a demo or a review cycle costs nothing at all.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1F242B"/>
                </a:solidFill>
                <a:latin typeface="Segoe UI"/>
              </a:rPr>
              <a:t>•  A paid key changes only the throughput, not the architecture: at Gemini Flash-Lite list pricing a full 1,000-row enrichment is a low single-digit dollar job.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1F242B"/>
                </a:solidFill>
                <a:latin typeface="Segoe UI"/>
              </a:rPr>
              <a:t>•  Self-hosting cost is a Streamlit process and a SQLite file — no vector database, no queue, no GPU.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36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36"/>
          <p:cNvSpPr txBox="1"/>
          <p:nvPr/>
        </p:nvSpPr>
        <p:spPr>
          <a:xfrm>
            <a:off x="219900" y="855225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Snapshots of the MVP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68" name="Picture 167" descr="01_overvie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517904"/>
            <a:ext cx="4059936" cy="1481328"/>
          </a:xfrm>
          <a:prstGeom prst="rect">
            <a:avLst/>
          </a:prstGeom>
        </p:spPr>
      </p:pic>
      <p:sp>
        <p:nvSpPr>
          <p:cNvPr id="169" name="TextBox 168"/>
          <p:cNvSpPr txBox="1"/>
          <p:nvPr/>
        </p:nvSpPr>
        <p:spPr>
          <a:xfrm>
            <a:off x="384048" y="3026664"/>
            <a:ext cx="405993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5A6370"/>
                </a:solidFill>
                <a:latin typeface="Segoe UI"/>
              </a:rPr>
              <a:t>Overview — measured uplift, not a claim</a:t>
            </a:r>
          </a:p>
        </p:txBody>
      </p:sp>
      <p:pic>
        <p:nvPicPr>
          <p:cNvPr id="170" name="Picture 169" descr="02_catalo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0016" y="1517904"/>
            <a:ext cx="4059936" cy="1481328"/>
          </a:xfrm>
          <a:prstGeom prst="rect">
            <a:avLst/>
          </a:prstGeom>
        </p:spPr>
      </p:pic>
      <p:sp>
        <p:nvSpPr>
          <p:cNvPr id="171" name="TextBox 170"/>
          <p:cNvSpPr txBox="1"/>
          <p:nvPr/>
        </p:nvSpPr>
        <p:spPr>
          <a:xfrm>
            <a:off x="4700016" y="3026664"/>
            <a:ext cx="405993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5A6370"/>
                </a:solidFill>
                <a:latin typeface="Segoe UI"/>
              </a:rPr>
              <a:t>Catalog — every value, its evidence and its confidence</a:t>
            </a:r>
          </a:p>
        </p:txBody>
      </p:sp>
      <p:pic>
        <p:nvPicPr>
          <p:cNvPr id="172" name="Picture 171" descr="04_review_queu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048" y="3401568"/>
            <a:ext cx="4059936" cy="148132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384048" y="4910328"/>
            <a:ext cx="405993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5A6370"/>
                </a:solidFill>
                <a:latin typeface="Segoe UI"/>
              </a:rPr>
              <a:t>Review Queue — only what the engine could not settle</a:t>
            </a:r>
          </a:p>
        </p:txBody>
      </p:sp>
      <p:pic>
        <p:nvPicPr>
          <p:cNvPr id="174" name="Picture 173" descr="05_expor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0016" y="3401568"/>
            <a:ext cx="4059936" cy="1481328"/>
          </a:xfrm>
          <a:prstGeom prst="rect">
            <a:avLst/>
          </a:prstGeom>
        </p:spPr>
      </p:pic>
      <p:sp>
        <p:nvSpPr>
          <p:cNvPr id="175" name="TextBox 174"/>
          <p:cNvSpPr txBox="1"/>
          <p:nvPr/>
        </p:nvSpPr>
        <p:spPr>
          <a:xfrm>
            <a:off x="4700016" y="4910328"/>
            <a:ext cx="405993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5A6370"/>
                </a:solidFill>
                <a:latin typeface="Segoe UI"/>
              </a:rPr>
              <a:t>Export — the 252-column delivery contract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37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37"/>
          <p:cNvSpPr txBox="1"/>
          <p:nvPr/>
        </p:nvSpPr>
        <p:spPr>
          <a:xfrm>
            <a:off x="109950" y="781900"/>
            <a:ext cx="8894100" cy="69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Additional Details/Future Development (if any)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74" name="TextBox 173"/>
          <p:cNvSpPr txBox="1"/>
          <p:nvPr/>
        </p:nvSpPr>
        <p:spPr>
          <a:xfrm>
            <a:off x="384048" y="1481328"/>
            <a:ext cx="8375904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003878"/>
                </a:solidFill>
                <a:latin typeface="Segoe UI"/>
              </a:rPr>
              <a:t>What is deliberately not done yet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F242B"/>
                </a:solidFill>
                <a:latin typeface="Segoe UI"/>
              </a:rPr>
              <a:t>•  Distributor-side columns — SKU - MY_PART_NUMBER, List Price, Prop 65 — export blank. They are commercial data no enrichment can honestly invent.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F242B"/>
                </a:solidFill>
                <a:latin typeface="Segoe UI"/>
              </a:rPr>
              <a:t>•  290 rows classify as General Product deterministically; LLM escalation resolves about three quarters, and the rest are genuinely outside the 26-class taxonomy.</a:t>
            </a:r>
          </a:p>
          <a:p>
            <a:pPr algn="l">
              <a:spcBef>
                <a:spcPts val="1000"/>
              </a:spcBef>
              <a:spcAft>
                <a:spcPts val="700"/>
              </a:spcAft>
            </a:pPr>
            <a:r>
              <a:rPr sz="1300" b="1">
                <a:solidFill>
                  <a:srgbClr val="003878"/>
                </a:solidFill>
                <a:latin typeface="Segoe UI"/>
              </a:rPr>
              <a:t>Next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F242B"/>
                </a:solidFill>
                <a:latin typeface="Segoe UI"/>
              </a:rPr>
              <a:t>•  Manufacturer datasheet ingestion at scale — the PDF table extractor and the vision path are built and wired; they need a document source per SKU.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F242B"/>
                </a:solidFill>
                <a:latin typeface="Segoe UI"/>
              </a:rPr>
              <a:t>•  Learned confidence calibration: the review decisions already stored are the training signal for replacing the hand-set confidence constants.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F242B"/>
                </a:solidFill>
                <a:latin typeface="Segoe UI"/>
              </a:rPr>
              <a:t>•  Taxonomy expansion driven by what lands in General Product, so the schema grows from evidence rather than guesswork.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F242B"/>
                </a:solidFill>
                <a:latin typeface="Segoe UI"/>
              </a:rPr>
              <a:t>•  Persisted knowledge graph across runs, so peer consensus improves as the catalogue grows instead of being rebuilt per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38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38"/>
          <p:cNvSpPr txBox="1"/>
          <p:nvPr/>
        </p:nvSpPr>
        <p:spPr>
          <a:xfrm>
            <a:off x="146600" y="843000"/>
            <a:ext cx="8833200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 dirty="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Provide links to your:</a:t>
            </a:r>
            <a:endParaRPr sz="1800" b="0" i="0" u="none" strike="noStrike" cap="none" dirty="0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80" name="TextBox 179"/>
          <p:cNvSpPr txBox="1"/>
          <p:nvPr/>
        </p:nvSpPr>
        <p:spPr>
          <a:xfrm>
            <a:off x="164200" y="1383030"/>
            <a:ext cx="8375904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dirty="0">
                <a:solidFill>
                  <a:srgbClr val="003878"/>
                </a:solidFill>
                <a:latin typeface="Segoe UI"/>
              </a:rPr>
              <a:t>GitHub public repository</a:t>
            </a:r>
          </a:p>
          <a:p>
            <a:pPr>
              <a:spcAft>
                <a:spcPts val="1200"/>
              </a:spcAft>
            </a:pPr>
            <a:r>
              <a:rPr lang="en-IN" sz="1200" dirty="0">
                <a:hlinkClick r:id="rId4"/>
              </a:rPr>
              <a:t>TheGodVishnu21/product-intelligence-engine</a:t>
            </a:r>
            <a:endParaRPr sz="1150" b="0" dirty="0">
              <a:solidFill>
                <a:srgbClr val="5A6370"/>
              </a:solidFill>
              <a:latin typeface="Segoe UI"/>
            </a:endParaRPr>
          </a:p>
          <a:p>
            <a:pPr algn="l">
              <a:spcAft>
                <a:spcPts val="200"/>
              </a:spcAft>
            </a:pPr>
            <a:r>
              <a:rPr sz="1200" b="1" dirty="0">
                <a:solidFill>
                  <a:srgbClr val="003878"/>
                </a:solidFill>
                <a:latin typeface="Segoe UI"/>
              </a:rPr>
              <a:t>Demo video (3 minutes)</a:t>
            </a:r>
          </a:p>
          <a:p>
            <a:pPr algn="l">
              <a:spcAft>
                <a:spcPts val="1200"/>
              </a:spcAft>
            </a:pPr>
            <a:r>
              <a:rPr sz="1150" b="0" dirty="0">
                <a:solidFill>
                  <a:srgbClr val="5A6370"/>
                </a:solidFill>
                <a:latin typeface="Segoe UI"/>
              </a:rPr>
              <a:t>&lt;paste video URL&gt;</a:t>
            </a:r>
          </a:p>
          <a:p>
            <a:pPr algn="l">
              <a:spcAft>
                <a:spcPts val="200"/>
              </a:spcAft>
            </a:pPr>
            <a:r>
              <a:rPr sz="1200" b="1" dirty="0">
                <a:solidFill>
                  <a:srgbClr val="003878"/>
                </a:solidFill>
                <a:latin typeface="Segoe UI"/>
              </a:rPr>
              <a:t>Working prototype</a:t>
            </a:r>
          </a:p>
          <a:p>
            <a:pPr>
              <a:spcAft>
                <a:spcPts val="1200"/>
              </a:spcAft>
            </a:pPr>
            <a:r>
              <a:rPr lang="en-IN" sz="1200" dirty="0">
                <a:hlinkClick r:id="rId5"/>
              </a:rPr>
              <a:t>Overview · Product Intelligence Engine · </a:t>
            </a:r>
            <a:r>
              <a:rPr lang="en-IN" sz="1200" dirty="0" err="1">
                <a:hlinkClick r:id="rId5"/>
              </a:rPr>
              <a:t>Streamlit</a:t>
            </a:r>
            <a:endParaRPr sz="1150" b="0" dirty="0">
              <a:solidFill>
                <a:srgbClr val="5A6370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39" title="Framededede 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1468</Words>
  <Application>Microsoft Office PowerPoint</Application>
  <PresentationFormat>On-screen Show (16:9)</PresentationFormat>
  <Paragraphs>152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Segoe UI</vt:lpstr>
      <vt:lpstr>Arial</vt:lpstr>
      <vt:lpstr>Google Sans</vt:lpstr>
      <vt:lpstr>Simple Light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Ishaan Sandhwar</cp:lastModifiedBy>
  <cp:revision>1</cp:revision>
  <dcterms:modified xsi:type="dcterms:W3CDTF">2026-08-23T04:34:28Z</dcterms:modified>
</cp:coreProperties>
</file>