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Google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font" Target="fonts/GoogleSans-regular.fntdata"/><Relationship Id="rId23" Type="http://schemas.openxmlformats.org/officeDocument/2006/relationships/font" Target="fonts/GoogleSans-bold.fntdata"/><Relationship Id="rId24" Type="http://schemas.openxmlformats.org/officeDocument/2006/relationships/font" Target="fonts/GoogleSans-italic.fntdata"/><Relationship Id="rId25" Type="http://schemas.openxmlformats.org/officeDocument/2006/relationships/font" Target="fonts/GoogleSans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97113ba4d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f97113ba4d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97113ba4d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g3f97113ba4d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97113ba4d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3f97113ba4d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971cbf117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f971cbf117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97113ba4d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f97113ba4d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97113ba4d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3f97113ba4d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97113ba4d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3f97113ba4d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97113ba4d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3f97113ba4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97113ba4d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3f97113ba4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97113ba4d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3f97113ba4d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97113ba4d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f97113ba4d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97113ba4d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g3f97113ba4d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97113ba4d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g3f97113ba4d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97113ba4d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g3f97113ba4d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97113ba4d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3f97113ba4d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3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6.jpg"/><Relationship Id="rId7" Type="http://schemas.openxmlformats.org/officeDocument/2006/relationships/image" Target="../media/image7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5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5"/>
          <p:cNvSpPr txBox="1"/>
          <p:nvPr/>
        </p:nvSpPr>
        <p:spPr>
          <a:xfrm>
            <a:off x="436625" y="8810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GB" sz="4000" u="none" cap="none" strike="noStrike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</a:rPr>
              <a:t>Guidelines</a:t>
            </a:r>
            <a:endParaRPr b="1" i="0" sz="4000" u="none" cap="none" strike="noStrike">
              <a:solidFill>
                <a:schemeClr val="accen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1" name="Google Shape;101;p25"/>
          <p:cNvSpPr txBox="1"/>
          <p:nvPr/>
        </p:nvSpPr>
        <p:spPr>
          <a:xfrm>
            <a:off x="609900" y="1711275"/>
            <a:ext cx="7924200" cy="19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Kindly use the given template for submitting your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prototype</a:t>
            </a: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(Make a copy of the template)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One team is only required to submit one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Follow this template while preparing your presentation.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You are welcome to add as many POCs and design concepts to support your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The project should be feasible and the team members should be capable enough, to come up with the fully functioning prototype of the same idea, if required.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6" title="Framedede 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3"/>
            <a:ext cx="9144003" cy="5143476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6"/>
          <p:cNvSpPr txBox="1"/>
          <p:nvPr/>
        </p:nvSpPr>
        <p:spPr>
          <a:xfrm>
            <a:off x="186200" y="3221675"/>
            <a:ext cx="8760000" cy="16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7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7"/>
          <p:cNvSpPr txBox="1"/>
          <p:nvPr/>
        </p:nvSpPr>
        <p:spPr>
          <a:xfrm>
            <a:off x="390000" y="775625"/>
            <a:ext cx="8364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Brief about your solution</a:t>
            </a:r>
            <a:endParaRPr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384048" y="1481328"/>
            <a:ext cx="8375904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1">
                <a:solidFill>
                  <a:srgbClr val="003878"/>
                </a:solidFill>
                <a:latin typeface="Segoe UI"/>
              </a:rPr>
              <a:t>Six columns in. 252 columns out.</a:t>
            </a:r>
          </a:p>
          <a:p>
            <a:pPr algn="l">
              <a:spcAft>
                <a:spcPts val="1200"/>
              </a:spcAft>
            </a:pPr>
            <a:r>
              <a:rPr sz="1250" b="0">
                <a:solidFill>
                  <a:srgbClr val="1F242B"/>
                </a:solidFill>
                <a:latin typeface="Segoe UI"/>
              </a:rPr>
              <a:t>A distributor's catalogue arrives as a part number, a 35-character line of trade shorthand and three brand columns that are mostly placeholder markers. The Unilog delivery template asks for a full taxonomy path, six description variants, twenty feature bullets and sixty attribute triplets. Everything in between has to be recovered — and every recovered value has to be defensible.</a:t>
            </a:r>
          </a:p>
          <a:p>
            <a:pPr algn="l">
              <a:spcAft>
                <a:spcPts val="1400"/>
              </a:spcAft>
            </a:pPr>
            <a:r>
              <a:rPr sz="1250" b="0">
                <a:solidFill>
                  <a:srgbClr val="1F242B"/>
                </a:solidFill>
                <a:latin typeface="Segoe UI"/>
              </a:rPr>
              <a:t>The Product Intelligence Engine reads that shorthand the way a product manager does. It decodes what is deterministic, infers what the catalogue itself can support, asks a language model only for what is genuinely left, then judges its own output and routes anything it cannot defend to a human — with the evidence, source and confidence attached to every single value.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384048" y="4041648"/>
            <a:ext cx="1572768" cy="749808"/>
          </a:xfrm>
          <a:prstGeom prst="roundRect">
            <a:avLst/>
          </a:prstGeom>
          <a:solidFill>
            <a:srgbClr val="F1F4F8"/>
          </a:solidFill>
          <a:ln>
            <a:solidFill>
              <a:srgbClr val="F1F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>
              <a:spcAft>
                <a:spcPts val="100"/>
              </a:spcAft>
            </a:pPr>
            <a:r>
              <a:rPr sz="1700" b="1">
                <a:solidFill>
                  <a:srgbClr val="003878"/>
                </a:solidFill>
                <a:latin typeface="Segoe UI"/>
              </a:rPr>
              <a:t>1,000</a:t>
            </a:r>
          </a:p>
          <a:p>
            <a:pPr algn="ctr"/>
            <a:r>
              <a:rPr sz="850" b="0">
                <a:solidFill>
                  <a:srgbClr val="5A6370"/>
                </a:solidFill>
                <a:latin typeface="Segoe UI"/>
              </a:rPr>
              <a:t>rows processed in 7.2s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2084831" y="4041648"/>
            <a:ext cx="1572768" cy="749808"/>
          </a:xfrm>
          <a:prstGeom prst="roundRect">
            <a:avLst/>
          </a:prstGeom>
          <a:solidFill>
            <a:srgbClr val="F1F4F8"/>
          </a:solidFill>
          <a:ln>
            <a:solidFill>
              <a:srgbClr val="F1F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>
              <a:spcAft>
                <a:spcPts val="100"/>
              </a:spcAft>
            </a:pPr>
            <a:r>
              <a:rPr sz="1700" b="1">
                <a:solidFill>
                  <a:srgbClr val="003878"/>
                </a:solidFill>
                <a:latin typeface="Segoe UI"/>
              </a:rPr>
              <a:t>7,330</a:t>
            </a:r>
          </a:p>
          <a:p>
            <a:pPr algn="ctr"/>
            <a:r>
              <a:rPr sz="850" b="0">
                <a:solidFill>
                  <a:srgbClr val="5A6370"/>
                </a:solidFill>
                <a:latin typeface="Segoe UI"/>
              </a:rPr>
              <a:t>fields recovered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3785615" y="4041648"/>
            <a:ext cx="1572768" cy="749808"/>
          </a:xfrm>
          <a:prstGeom prst="roundRect">
            <a:avLst/>
          </a:prstGeom>
          <a:solidFill>
            <a:srgbClr val="F1F4F8"/>
          </a:solidFill>
          <a:ln>
            <a:solidFill>
              <a:srgbClr val="F1F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>
              <a:spcAft>
                <a:spcPts val="100"/>
              </a:spcAft>
            </a:pPr>
            <a:r>
              <a:rPr sz="1700" b="1">
                <a:solidFill>
                  <a:srgbClr val="003878"/>
                </a:solidFill>
                <a:latin typeface="Segoe UI"/>
              </a:rPr>
              <a:t>96%</a:t>
            </a:r>
          </a:p>
          <a:p>
            <a:pPr algn="ctr"/>
            <a:r>
              <a:rPr sz="850" b="0">
                <a:solidFill>
                  <a:srgbClr val="5A6370"/>
                </a:solidFill>
                <a:latin typeface="Segoe UI"/>
              </a:rPr>
              <a:t>identity coverage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5486400" y="4041648"/>
            <a:ext cx="1572768" cy="749808"/>
          </a:xfrm>
          <a:prstGeom prst="roundRect">
            <a:avLst/>
          </a:prstGeom>
          <a:solidFill>
            <a:srgbClr val="F1F4F8"/>
          </a:solidFill>
          <a:ln>
            <a:solidFill>
              <a:srgbClr val="F1F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>
              <a:spcAft>
                <a:spcPts val="100"/>
              </a:spcAft>
            </a:pPr>
            <a:r>
              <a:rPr sz="1700" b="1">
                <a:solidFill>
                  <a:srgbClr val="003878"/>
                </a:solidFill>
                <a:latin typeface="Segoe UI"/>
              </a:rPr>
              <a:t>100%</a:t>
            </a:r>
          </a:p>
          <a:p>
            <a:pPr algn="ctr"/>
            <a:r>
              <a:rPr sz="850" b="0">
                <a:solidFill>
                  <a:srgbClr val="5A6370"/>
                </a:solidFill>
                <a:latin typeface="Segoe UI"/>
              </a:rPr>
              <a:t>taxonomy coverage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7187183" y="4041648"/>
            <a:ext cx="1572768" cy="749808"/>
          </a:xfrm>
          <a:prstGeom prst="roundRect">
            <a:avLst/>
          </a:prstGeom>
          <a:solidFill>
            <a:srgbClr val="F1F4F8"/>
          </a:solidFill>
          <a:ln>
            <a:solidFill>
              <a:srgbClr val="F1F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>
              <a:spcAft>
                <a:spcPts val="100"/>
              </a:spcAft>
            </a:pPr>
            <a:r>
              <a:rPr sz="1700" b="1">
                <a:solidFill>
                  <a:srgbClr val="003878"/>
                </a:solidFill>
                <a:latin typeface="Segoe UI"/>
              </a:rPr>
              <a:t>83%</a:t>
            </a:r>
          </a:p>
          <a:p>
            <a:pPr algn="ctr"/>
            <a:r>
              <a:rPr sz="850" b="0">
                <a:solidFill>
                  <a:srgbClr val="5A6370"/>
                </a:solidFill>
                <a:latin typeface="Segoe UI"/>
              </a:rPr>
              <a:t>auto-approved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8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8"/>
          <p:cNvSpPr txBox="1"/>
          <p:nvPr>
            <p:ph type="ctrTitle"/>
          </p:nvPr>
        </p:nvSpPr>
        <p:spPr>
          <a:xfrm>
            <a:off x="224133" y="743250"/>
            <a:ext cx="8520600" cy="20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200"/>
              <a:t>1. How does your solution enrich minimal product information?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-GB" sz="1000">
                <a:solidFill>
                  <a:srgbClr val="434343"/>
                </a:solidFill>
              </a:rPr>
              <a:t>Briefly explain how your solution transforms limited inputs (e.g., Part Number, Brand, Short Description) into rich product intelligence.</a:t>
            </a:r>
            <a:endParaRPr i="1" sz="10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200"/>
              <a:t>2. How does your solution ensure accuracy and trust in the generated product data?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-GB" sz="1000">
                <a:solidFill>
                  <a:srgbClr val="434343"/>
                </a:solidFill>
              </a:rPr>
              <a:t>Describe your validation strategy. This may include:</a:t>
            </a:r>
            <a:endParaRPr i="1" sz="10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-GB" sz="1000">
                <a:solidFill>
                  <a:srgbClr val="434343"/>
                </a:solidFill>
              </a:rPr>
              <a:t>(Confidence scoring, Multi-source verification, Human review, Rule-based validation, AI validation, Other approaches)</a:t>
            </a:r>
            <a:endParaRPr i="1" sz="10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200"/>
              <a:t>3. What makes your solution scalable for enterprise product catalogs?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-GB" sz="1000">
                <a:solidFill>
                  <a:srgbClr val="434343"/>
                </a:solidFill>
              </a:rPr>
              <a:t>Describe how your solution would handle: Large product catalogs, New manufacturers, Different document formats, Continuous product updates</a:t>
            </a:r>
            <a:endParaRPr i="1" sz="1000">
              <a:solidFill>
                <a:srgbClr val="434343"/>
              </a:solidFill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384048" y="1417320"/>
            <a:ext cx="837590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003878"/>
                </a:solidFill>
                <a:latin typeface="Segoe UI"/>
              </a:rPr>
              <a:t>Worked example — one real row from the supplied file</a:t>
            </a:r>
          </a:p>
          <a:p>
            <a:pPr algn="l">
              <a:spcAft>
                <a:spcPts val="1000"/>
              </a:spcAft>
            </a:pPr>
            <a:r>
              <a:rPr sz="1050" b="0">
                <a:solidFill>
                  <a:srgbClr val="5A6370"/>
                </a:solidFill>
                <a:latin typeface="Segoe UI"/>
              </a:rPr>
              <a:t>IN:   3MABR-7100075678  |  "3M 775L Stikit Film P150 - Cubitron II 50 Disc/Box"  |  brand: -- Unbranded --  |  Part_Manuf: Jam Industrial Supply LLC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384048" y="2212848"/>
            <a:ext cx="932688" cy="384048"/>
          </a:xfrm>
          <a:prstGeom prst="roundRect">
            <a:avLst/>
          </a:prstGeom>
          <a:solidFill>
            <a:srgbClr val="003878"/>
          </a:solidFill>
          <a:ln w="12700">
            <a:solidFill>
              <a:srgbClr val="003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Decode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408176" y="2194560"/>
            <a:ext cx="312724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>
                <a:solidFill>
                  <a:srgbClr val="1F242B"/>
                </a:solidFill>
                <a:latin typeface="Segoe UI"/>
              </a:rPr>
              <a:t>Trade shorthand is parsed, not guessed: form, grit P150, attachment system, pack quantity, selling unit — no model call.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4645152" y="2212848"/>
            <a:ext cx="932688" cy="384048"/>
          </a:xfrm>
          <a:prstGeom prst="roundRect">
            <a:avLst/>
          </a:prstGeom>
          <a:solidFill>
            <a:srgbClr val="003878"/>
          </a:solidFill>
          <a:ln w="12700">
            <a:solidFill>
              <a:srgbClr val="003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Identify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669280" y="2194560"/>
            <a:ext cx="312724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>
                <a:solidFill>
                  <a:srgbClr val="1F242B"/>
                </a:solidFill>
                <a:latin typeface="Segoe UI"/>
              </a:rPr>
              <a:t>Part_Manuf is the account bought from, not the maker. It is published as supplier; 3M is recovered as brand and manufacturer from the description.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384048" y="3054096"/>
            <a:ext cx="932688" cy="384048"/>
          </a:xfrm>
          <a:prstGeom prst="roundRect">
            <a:avLst/>
          </a:prstGeom>
          <a:solidFill>
            <a:srgbClr val="003878"/>
          </a:solidFill>
          <a:ln w="12700">
            <a:solidFill>
              <a:srgbClr val="003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Classify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408176" y="3035808"/>
            <a:ext cx="312724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>
                <a:solidFill>
                  <a:srgbClr val="1F242B"/>
                </a:solidFill>
                <a:latin typeface="Segoe UI"/>
              </a:rPr>
              <a:t>Keyword classifier settles 71% of the file; the model escalates the rest into the 26-class taxonomy.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4645152" y="3054096"/>
            <a:ext cx="932688" cy="384048"/>
          </a:xfrm>
          <a:prstGeom prst="roundRect">
            <a:avLst/>
          </a:prstGeom>
          <a:solidFill>
            <a:srgbClr val="003878"/>
          </a:solidFill>
          <a:ln w="12700">
            <a:solidFill>
              <a:srgbClr val="003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Infer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669280" y="3035808"/>
            <a:ext cx="312724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>
                <a:solidFill>
                  <a:srgbClr val="1F242B"/>
                </a:solidFill>
                <a:latin typeface="Segoe UI"/>
              </a:rPr>
              <a:t>Catalogue peers fill gaps — but brand-scoped attributes are refused outside a brand-scoped peer group, so 3M's series never lands on a Diablo belt.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384048" y="3895344"/>
            <a:ext cx="932688" cy="384048"/>
          </a:xfrm>
          <a:prstGeom prst="roundRect">
            <a:avLst/>
          </a:prstGeom>
          <a:solidFill>
            <a:srgbClr val="003878"/>
          </a:solidFill>
          <a:ln w="12700">
            <a:solidFill>
              <a:srgbClr val="003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Write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408176" y="3877056"/>
            <a:ext cx="312724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>
                <a:solidFill>
                  <a:srgbClr val="1F242B"/>
                </a:solidFill>
                <a:latin typeface="Segoe UI"/>
              </a:rPr>
              <a:t>Six commerce descriptions and the feature bullets are generated to the template's own length targets.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4645152" y="3895344"/>
            <a:ext cx="932688" cy="384048"/>
          </a:xfrm>
          <a:prstGeom prst="roundRect">
            <a:avLst/>
          </a:prstGeom>
          <a:solidFill>
            <a:srgbClr val="003878"/>
          </a:solidFill>
          <a:ln w="12700">
            <a:solidFill>
              <a:srgbClr val="003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Judge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5669280" y="3877056"/>
            <a:ext cx="312724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>
                <a:solidFill>
                  <a:srgbClr val="1F242B"/>
                </a:solidFill>
                <a:latin typeface="Segoe UI"/>
              </a:rPr>
              <a:t>A model reviews the finished record; anything unsupported is flagged, de-confidenced and queued for a human.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9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9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Opportunities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different is it from any of the other existing ideas?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will it be able to solve the problem statemen</a:t>
            </a:r>
            <a:r>
              <a:rPr lang="en-GB" sz="1800">
                <a:latin typeface="Google Sans"/>
                <a:ea typeface="Google Sans"/>
                <a:cs typeface="Google Sans"/>
                <a:sym typeface="Google Sans"/>
              </a:rPr>
              <a:t>t given</a:t>
            </a: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?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USP of the proposed solution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384048" y="1481328"/>
            <a:ext cx="837590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03878"/>
                </a:solidFill>
                <a:latin typeface="Segoe UI"/>
              </a:rPr>
              <a:t>Different from an "AI enrichment" wrapper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F242B"/>
                </a:solidFill>
                <a:latin typeface="Segoe UI"/>
              </a:rPr>
              <a:t>•  Deterministic first. The decoders cover all 1,000 rows in 7.2 seconds with no API key at all. The model is the last resort, not the pipeline.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F242B"/>
                </a:solidFill>
                <a:latin typeface="Segoe UI"/>
              </a:rPr>
              <a:t>•  Every value carries method, source, evidence and confidence — a buyer can ask "why does this say P150?" and get an answer, not a vibe.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F242B"/>
                </a:solidFill>
                <a:latin typeface="Segoe UI"/>
              </a:rPr>
              <a:t>•  It scores itself. Quality is decomposed into completeness, accuracy, consistency and richness, measured before and after, so uplift is a number and not a claim.</a:t>
            </a:r>
          </a:p>
          <a:p>
            <a:pPr algn="l">
              <a:spcBef>
                <a:spcPts val="800"/>
              </a:spcBef>
              <a:spcAft>
                <a:spcPts val="600"/>
              </a:spcAft>
            </a:pPr>
            <a:r>
              <a:rPr sz="1300" b="1">
                <a:solidFill>
                  <a:srgbClr val="003878"/>
                </a:solidFill>
                <a:latin typeface="Segoe UI"/>
              </a:rPr>
              <a:t>How it solves the problem statement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F242B"/>
                </a:solidFill>
                <a:latin typeface="Segoe UI"/>
              </a:rPr>
              <a:t>•  252-column delivery template filled directly — column order is read from the template file at runtime, so a revised template needs no code change.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F242B"/>
                </a:solidFill>
                <a:latin typeface="Segoe UI"/>
              </a:rPr>
              <a:t>•  Blank beats wrong: anything below the publish floor is held back and queued, because a blank cell is recoverable and a confident wrong value is not.</a:t>
            </a:r>
          </a:p>
          <a:p>
            <a:pPr algn="l">
              <a:spcBef>
                <a:spcPts val="800"/>
              </a:spcBef>
              <a:spcAft>
                <a:spcPts val="600"/>
              </a:spcAft>
            </a:pPr>
            <a:r>
              <a:rPr sz="1300" b="1">
                <a:solidFill>
                  <a:srgbClr val="003878"/>
                </a:solidFill>
                <a:latin typeface="Segoe UI"/>
              </a:rPr>
              <a:t>USP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C2412B"/>
                </a:solidFill>
                <a:latin typeface="Segoe UI"/>
              </a:rPr>
              <a:t>An enrichment engine that argues with itself. Switching the model on initially made the quality score fall — because the judge had started catching two real defects nobody had checked for. Both were fixed at the source. That is the difference between filling cells and shipping a catalogue.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30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30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List of features offered by the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32" name="TextBox 131"/>
          <p:cNvSpPr txBox="1"/>
          <p:nvPr/>
        </p:nvSpPr>
        <p:spPr>
          <a:xfrm>
            <a:off x="384048" y="1517904"/>
            <a:ext cx="4023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3878"/>
                </a:solidFill>
                <a:latin typeface="Segoe UI"/>
              </a:rPr>
              <a:t>Trade-shorthand decoder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84048" y="1737360"/>
            <a:ext cx="4023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>
                <a:solidFill>
                  <a:srgbClr val="1F242B"/>
                </a:solidFill>
                <a:latin typeface="Segoe UI"/>
              </a:rPr>
              <a:t>Form, grit, dimensions, colour, base type, pack quantity and selling unit parsed from a 35-character line.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645152" y="1517904"/>
            <a:ext cx="4023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3878"/>
                </a:solidFill>
                <a:latin typeface="Segoe UI"/>
              </a:rPr>
              <a:t>Identity resolution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645152" y="1737360"/>
            <a:ext cx="4023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>
                <a:solidFill>
                  <a:srgbClr val="1F242B"/>
                </a:solidFill>
                <a:latin typeface="Segoe UI"/>
              </a:rPr>
              <a:t>Supplier account vs brand vs manufacturer, separated and published on the right lines — 552 brands recovered.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84048" y="2304288"/>
            <a:ext cx="4023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3878"/>
                </a:solidFill>
                <a:latin typeface="Segoe UI"/>
              </a:rPr>
              <a:t>26-class taxonomy + escalation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84048" y="2523744"/>
            <a:ext cx="4023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>
                <a:solidFill>
                  <a:srgbClr val="1F242B"/>
                </a:solidFill>
                <a:latin typeface="Segoe UI"/>
              </a:rPr>
              <a:t>Keyword classifier, then LLM escalation for what it cannot settle. Dept / Class / Fine path filled 100%.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645152" y="2304288"/>
            <a:ext cx="4023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3878"/>
                </a:solidFill>
                <a:latin typeface="Segoe UI"/>
              </a:rPr>
              <a:t>Catalogue knowledge graph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645152" y="2523744"/>
            <a:ext cx="4023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>
                <a:solidFill>
                  <a:srgbClr val="1F242B"/>
                </a:solidFill>
                <a:latin typeface="Segoe UI"/>
              </a:rPr>
              <a:t>Peer consensus fills gaps and exposes outliers — scoped so inference never crosses a brand boundary.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84048" y="3090672"/>
            <a:ext cx="4023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3878"/>
                </a:solidFill>
                <a:latin typeface="Segoe UI"/>
              </a:rPr>
              <a:t>Commerce content generation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384048" y="3310128"/>
            <a:ext cx="4023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>
                <a:solidFill>
                  <a:srgbClr val="1F242B"/>
                </a:solidFill>
                <a:latin typeface="Segoe UI"/>
              </a:rPr>
              <a:t>Six description variants and twenty feature bullets, written to the template's own length targets.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4645152" y="3090672"/>
            <a:ext cx="4023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3878"/>
                </a:solidFill>
                <a:latin typeface="Segoe UI"/>
              </a:rPr>
              <a:t>LLM judge + rule engine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4645152" y="3310128"/>
            <a:ext cx="4023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>
                <a:solidFill>
                  <a:srgbClr val="1F242B"/>
                </a:solidFill>
                <a:latin typeface="Segoe UI"/>
              </a:rPr>
              <a:t>Unit sanity, magnitude plausibility, internal contradiction and evidence-support checks.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84048" y="3877056"/>
            <a:ext cx="4023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3878"/>
                </a:solidFill>
                <a:latin typeface="Segoe UI"/>
              </a:rPr>
              <a:t>Human review queue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84048" y="4096512"/>
            <a:ext cx="4023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>
                <a:solidFill>
                  <a:srgbClr val="1F242B"/>
                </a:solidFill>
                <a:latin typeface="Segoe UI"/>
              </a:rPr>
              <a:t>Approve / correct / reject with notes; every decision is stored and turned into reviewer calibration.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645152" y="3877056"/>
            <a:ext cx="4023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3878"/>
                </a:solidFill>
                <a:latin typeface="Segoe UI"/>
              </a:rPr>
              <a:t>Evidence-first export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4645152" y="4096512"/>
            <a:ext cx="4023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" b="0">
                <a:solidFill>
                  <a:srgbClr val="1F242B"/>
                </a:solidFill>
                <a:latin typeface="Segoe UI"/>
              </a:rPr>
              <a:t>252-column delivery CSV, flat catalogue CSV, full audit JSON, open-queue CSV.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31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31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Process flow diagram or Use-case diagram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38" name="Rounded Rectangle 137"/>
          <p:cNvSpPr/>
          <p:nvPr/>
        </p:nvSpPr>
        <p:spPr>
          <a:xfrm>
            <a:off x="384048" y="1627632"/>
            <a:ext cx="1481328" cy="658368"/>
          </a:xfrm>
          <a:prstGeom prst="roundRect">
            <a:avLst/>
          </a:prstGeom>
          <a:solidFill>
            <a:srgbClr val="003878"/>
          </a:solidFill>
          <a:ln w="12700">
            <a:solidFill>
              <a:srgbClr val="003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Ingest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384048" y="2322576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5A6370"/>
                </a:solidFill>
                <a:latin typeface="Segoe UI"/>
              </a:rPr>
              <a:t>6 columns
header mapping</a:t>
            </a:r>
          </a:p>
        </p:txBody>
      </p:sp>
      <p:cxnSp>
        <p:nvCxnSpPr>
          <p:cNvPr id="140" name="Connector 139"/>
          <p:cNvCxnSpPr/>
          <p:nvPr/>
        </p:nvCxnSpPr>
        <p:spPr>
          <a:xfrm>
            <a:off x="1865376" y="1956816"/>
            <a:ext cx="237744" cy="0"/>
          </a:xfrm>
          <a:prstGeom prst="line">
            <a:avLst/>
          </a:prstGeom>
          <a:ln w="19050">
            <a:solidFill>
              <a:srgbClr val="003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Rounded Rectangle 140"/>
          <p:cNvSpPr/>
          <p:nvPr/>
        </p:nvSpPr>
        <p:spPr>
          <a:xfrm>
            <a:off x="2103120" y="1627632"/>
            <a:ext cx="1481328" cy="658368"/>
          </a:xfrm>
          <a:prstGeom prst="roundRect">
            <a:avLst/>
          </a:prstGeom>
          <a:solidFill>
            <a:srgbClr val="003878"/>
          </a:solidFill>
          <a:ln w="12700">
            <a:solidFill>
              <a:srgbClr val="003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Classify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2103120" y="2322576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5A6370"/>
                </a:solidFill>
                <a:latin typeface="Segoe UI"/>
              </a:rPr>
              <a:t>keyword →
LLM escalation</a:t>
            </a:r>
          </a:p>
        </p:txBody>
      </p:sp>
      <p:cxnSp>
        <p:nvCxnSpPr>
          <p:cNvPr id="143" name="Connector 142"/>
          <p:cNvCxnSpPr/>
          <p:nvPr/>
        </p:nvCxnSpPr>
        <p:spPr>
          <a:xfrm>
            <a:off x="3584448" y="1956816"/>
            <a:ext cx="237744" cy="0"/>
          </a:xfrm>
          <a:prstGeom prst="line">
            <a:avLst/>
          </a:prstGeom>
          <a:ln w="19050">
            <a:solidFill>
              <a:srgbClr val="003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Rounded Rectangle 143"/>
          <p:cNvSpPr/>
          <p:nvPr/>
        </p:nvSpPr>
        <p:spPr>
          <a:xfrm>
            <a:off x="3822192" y="1627632"/>
            <a:ext cx="1481328" cy="658368"/>
          </a:xfrm>
          <a:prstGeom prst="roundRect">
            <a:avLst/>
          </a:prstGeom>
          <a:solidFill>
            <a:srgbClr val="003878"/>
          </a:solidFill>
          <a:ln w="12700">
            <a:solidFill>
              <a:srgbClr val="003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Decode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822192" y="2322576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5A6370"/>
                </a:solidFill>
                <a:latin typeface="Segoe UI"/>
              </a:rPr>
              <a:t>shorthand,
units, enums</a:t>
            </a:r>
          </a:p>
        </p:txBody>
      </p:sp>
      <p:cxnSp>
        <p:nvCxnSpPr>
          <p:cNvPr id="146" name="Connector 145"/>
          <p:cNvCxnSpPr/>
          <p:nvPr/>
        </p:nvCxnSpPr>
        <p:spPr>
          <a:xfrm>
            <a:off x="5303520" y="1956816"/>
            <a:ext cx="237744" cy="0"/>
          </a:xfrm>
          <a:prstGeom prst="line">
            <a:avLst/>
          </a:prstGeom>
          <a:ln w="19050">
            <a:solidFill>
              <a:srgbClr val="003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Rounded Rectangle 146"/>
          <p:cNvSpPr/>
          <p:nvPr/>
        </p:nvSpPr>
        <p:spPr>
          <a:xfrm>
            <a:off x="5541264" y="1627632"/>
            <a:ext cx="1481328" cy="658368"/>
          </a:xfrm>
          <a:prstGeom prst="roundRect">
            <a:avLst/>
          </a:prstGeom>
          <a:solidFill>
            <a:srgbClr val="003878"/>
          </a:solidFill>
          <a:ln w="12700">
            <a:solidFill>
              <a:srgbClr val="003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Resolve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541264" y="2322576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5A6370"/>
                </a:solidFill>
                <a:latin typeface="Segoe UI"/>
              </a:rPr>
              <a:t>golden record
source precedence</a:t>
            </a:r>
          </a:p>
        </p:txBody>
      </p:sp>
      <p:cxnSp>
        <p:nvCxnSpPr>
          <p:cNvPr id="149" name="Connector 148"/>
          <p:cNvCxnSpPr/>
          <p:nvPr/>
        </p:nvCxnSpPr>
        <p:spPr>
          <a:xfrm>
            <a:off x="7022592" y="1956816"/>
            <a:ext cx="237744" cy="0"/>
          </a:xfrm>
          <a:prstGeom prst="line">
            <a:avLst/>
          </a:prstGeom>
          <a:ln w="19050">
            <a:solidFill>
              <a:srgbClr val="003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Rounded Rectangle 149"/>
          <p:cNvSpPr/>
          <p:nvPr/>
        </p:nvSpPr>
        <p:spPr>
          <a:xfrm>
            <a:off x="7260336" y="1627632"/>
            <a:ext cx="1481328" cy="658368"/>
          </a:xfrm>
          <a:prstGeom prst="roundRect">
            <a:avLst/>
          </a:prstGeom>
          <a:solidFill>
            <a:srgbClr val="003878"/>
          </a:solidFill>
          <a:ln w="12700">
            <a:solidFill>
              <a:srgbClr val="003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Validate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7260336" y="2322576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5A6370"/>
                </a:solidFill>
                <a:latin typeface="Segoe UI"/>
              </a:rPr>
              <a:t>rules, ranges,
contradictions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384048" y="3072384"/>
            <a:ext cx="1481328" cy="658368"/>
          </a:xfrm>
          <a:prstGeom prst="roundRect">
            <a:avLst/>
          </a:prstGeom>
          <a:solidFill>
            <a:srgbClr val="003878"/>
          </a:solidFill>
          <a:ln w="12700">
            <a:solidFill>
              <a:srgbClr val="003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Enrich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384048" y="3767328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5A6370"/>
                </a:solidFill>
                <a:latin typeface="Segoe UI"/>
              </a:rPr>
              <a:t>peers → graph
→ LLM</a:t>
            </a:r>
          </a:p>
        </p:txBody>
      </p:sp>
      <p:cxnSp>
        <p:nvCxnSpPr>
          <p:cNvPr id="154" name="Connector 153"/>
          <p:cNvCxnSpPr/>
          <p:nvPr/>
        </p:nvCxnSpPr>
        <p:spPr>
          <a:xfrm>
            <a:off x="1865376" y="3401568"/>
            <a:ext cx="237744" cy="0"/>
          </a:xfrm>
          <a:prstGeom prst="line">
            <a:avLst/>
          </a:prstGeom>
          <a:ln w="19050">
            <a:solidFill>
              <a:srgbClr val="003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Rounded Rectangle 154"/>
          <p:cNvSpPr/>
          <p:nvPr/>
        </p:nvSpPr>
        <p:spPr>
          <a:xfrm>
            <a:off x="2103120" y="3072384"/>
            <a:ext cx="1481328" cy="658368"/>
          </a:xfrm>
          <a:prstGeom prst="roundRect">
            <a:avLst/>
          </a:prstGeom>
          <a:solidFill>
            <a:srgbClr val="003878"/>
          </a:solidFill>
          <a:ln w="12700">
            <a:solidFill>
              <a:srgbClr val="003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Generate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2103120" y="3767328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5A6370"/>
                </a:solidFill>
                <a:latin typeface="Segoe UI"/>
              </a:rPr>
              <a:t>6 descriptions
20 features</a:t>
            </a:r>
          </a:p>
        </p:txBody>
      </p:sp>
      <p:cxnSp>
        <p:nvCxnSpPr>
          <p:cNvPr id="157" name="Connector 156"/>
          <p:cNvCxnSpPr/>
          <p:nvPr/>
        </p:nvCxnSpPr>
        <p:spPr>
          <a:xfrm>
            <a:off x="3584448" y="3401568"/>
            <a:ext cx="237744" cy="0"/>
          </a:xfrm>
          <a:prstGeom prst="line">
            <a:avLst/>
          </a:prstGeom>
          <a:ln w="19050">
            <a:solidFill>
              <a:srgbClr val="003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Rounded Rectangle 157"/>
          <p:cNvSpPr/>
          <p:nvPr/>
        </p:nvSpPr>
        <p:spPr>
          <a:xfrm>
            <a:off x="3822192" y="3072384"/>
            <a:ext cx="1481328" cy="658368"/>
          </a:xfrm>
          <a:prstGeom prst="roundRect">
            <a:avLst/>
          </a:prstGeom>
          <a:solidFill>
            <a:srgbClr val="003878"/>
          </a:solidFill>
          <a:ln w="12700">
            <a:solidFill>
              <a:srgbClr val="003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Judge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3822192" y="3767328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5A6370"/>
                </a:solidFill>
                <a:latin typeface="Segoe UI"/>
              </a:rPr>
              <a:t>LLM review
de-confidence</a:t>
            </a:r>
          </a:p>
        </p:txBody>
      </p:sp>
      <p:cxnSp>
        <p:nvCxnSpPr>
          <p:cNvPr id="160" name="Connector 159"/>
          <p:cNvCxnSpPr/>
          <p:nvPr/>
        </p:nvCxnSpPr>
        <p:spPr>
          <a:xfrm>
            <a:off x="5303520" y="3401568"/>
            <a:ext cx="237744" cy="0"/>
          </a:xfrm>
          <a:prstGeom prst="line">
            <a:avLst/>
          </a:prstGeom>
          <a:ln w="19050">
            <a:solidFill>
              <a:srgbClr val="003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Rounded Rectangle 160"/>
          <p:cNvSpPr/>
          <p:nvPr/>
        </p:nvSpPr>
        <p:spPr>
          <a:xfrm>
            <a:off x="5541264" y="3072384"/>
            <a:ext cx="1481328" cy="658368"/>
          </a:xfrm>
          <a:prstGeom prst="roundRect">
            <a:avLst/>
          </a:prstGeom>
          <a:solidFill>
            <a:srgbClr val="003878"/>
          </a:solidFill>
          <a:ln w="12700">
            <a:solidFill>
              <a:srgbClr val="003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Route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5541264" y="3767328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5A6370"/>
                </a:solidFill>
                <a:latin typeface="Segoe UI"/>
              </a:rPr>
              <a:t>auto-approve
or human queue</a:t>
            </a:r>
          </a:p>
        </p:txBody>
      </p:sp>
      <p:cxnSp>
        <p:nvCxnSpPr>
          <p:cNvPr id="163" name="Connector 162"/>
          <p:cNvCxnSpPr/>
          <p:nvPr/>
        </p:nvCxnSpPr>
        <p:spPr>
          <a:xfrm>
            <a:off x="7022592" y="3401568"/>
            <a:ext cx="237744" cy="0"/>
          </a:xfrm>
          <a:prstGeom prst="line">
            <a:avLst/>
          </a:prstGeom>
          <a:ln w="19050">
            <a:solidFill>
              <a:srgbClr val="003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Rounded Rectangle 163"/>
          <p:cNvSpPr/>
          <p:nvPr/>
        </p:nvSpPr>
        <p:spPr>
          <a:xfrm>
            <a:off x="7260336" y="3072384"/>
            <a:ext cx="1481328" cy="658368"/>
          </a:xfrm>
          <a:prstGeom prst="roundRect">
            <a:avLst/>
          </a:prstGeom>
          <a:solidFill>
            <a:srgbClr val="003878"/>
          </a:solidFill>
          <a:ln w="12700">
            <a:solidFill>
              <a:srgbClr val="003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Export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7260336" y="3767328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5A6370"/>
                </a:solidFill>
                <a:latin typeface="Segoe UI"/>
              </a:rPr>
              <a:t>252-column
delivery CSV</a:t>
            </a:r>
          </a:p>
        </p:txBody>
      </p:sp>
      <p:cxnSp>
        <p:nvCxnSpPr>
          <p:cNvPr id="166" name="Connector 165"/>
          <p:cNvCxnSpPr/>
          <p:nvPr/>
        </p:nvCxnSpPr>
        <p:spPr>
          <a:xfrm>
            <a:off x="8595360" y="2286000"/>
            <a:ext cx="0" cy="393192"/>
          </a:xfrm>
          <a:prstGeom prst="line">
            <a:avLst/>
          </a:prstGeom>
          <a:ln w="19050">
            <a:solidFill>
              <a:srgbClr val="003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H="1">
            <a:off x="530352" y="2679192"/>
            <a:ext cx="8065008" cy="0"/>
          </a:xfrm>
          <a:prstGeom prst="line">
            <a:avLst/>
          </a:prstGeom>
          <a:ln w="19050">
            <a:solidFill>
              <a:srgbClr val="003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530352" y="2679192"/>
            <a:ext cx="0" cy="393192"/>
          </a:xfrm>
          <a:prstGeom prst="line">
            <a:avLst/>
          </a:prstGeom>
          <a:ln w="19050">
            <a:solidFill>
              <a:srgbClr val="003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9" name="TextBox 168"/>
          <p:cNvSpPr txBox="1"/>
          <p:nvPr/>
        </p:nvSpPr>
        <p:spPr>
          <a:xfrm>
            <a:off x="384048" y="4315968"/>
            <a:ext cx="837590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C2412B"/>
                </a:solidFill>
                <a:latin typeface="Segoe UI"/>
              </a:rPr>
              <a:t>↺  reviewer corrections re-enter the record and re-score it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384048" y="4590288"/>
            <a:ext cx="837590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5A6370"/>
                </a:solidFill>
                <a:latin typeface="Segoe UI"/>
              </a:rPr>
              <a:t>No model call happens until the deterministic stages have taken everything they can.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32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32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Wireframes/Mock diagrams of the proposed solution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33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3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Architecture diagram of the proposed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0" name="Rounded Rectangle 149"/>
          <p:cNvSpPr/>
          <p:nvPr/>
        </p:nvSpPr>
        <p:spPr>
          <a:xfrm>
            <a:off x="384048" y="1572768"/>
            <a:ext cx="1536192" cy="676656"/>
          </a:xfrm>
          <a:prstGeom prst="roundRect">
            <a:avLst/>
          </a:prstGeom>
          <a:solidFill>
            <a:srgbClr val="003878"/>
          </a:solidFill>
          <a:ln w="12700">
            <a:solidFill>
              <a:srgbClr val="003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Interface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2084832" y="1572768"/>
            <a:ext cx="2151887" cy="676656"/>
          </a:xfrm>
          <a:prstGeom prst="roundRect">
            <a:avLst/>
          </a:prstGeom>
          <a:solidFill>
            <a:srgbClr val="F1F4F8"/>
          </a:solidFill>
          <a:ln w="12700">
            <a:solidFill>
              <a:srgbClr val="003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00" b="0">
                <a:solidFill>
                  <a:srgbClr val="1F242B"/>
                </a:solidFill>
                <a:latin typeface="Segoe UI"/>
              </a:rPr>
              <a:t>Streamlit app — 6 pages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4346448" y="1572768"/>
            <a:ext cx="2151887" cy="676656"/>
          </a:xfrm>
          <a:prstGeom prst="roundRect">
            <a:avLst/>
          </a:prstGeom>
          <a:solidFill>
            <a:srgbClr val="F1F4F8"/>
          </a:solidFill>
          <a:ln w="12700">
            <a:solidFill>
              <a:srgbClr val="003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00" b="0">
                <a:solidFill>
                  <a:srgbClr val="1F242B"/>
                </a:solidFill>
                <a:latin typeface="Segoe UI"/>
              </a:rPr>
              <a:t>Headless CLI runner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6608064" y="1572768"/>
            <a:ext cx="2151887" cy="676656"/>
          </a:xfrm>
          <a:prstGeom prst="roundRect">
            <a:avLst/>
          </a:prstGeom>
          <a:solidFill>
            <a:srgbClr val="F1F4F8"/>
          </a:solidFill>
          <a:ln w="12700">
            <a:solidFill>
              <a:srgbClr val="003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00" b="0">
                <a:solidFill>
                  <a:srgbClr val="1F242B"/>
                </a:solidFill>
                <a:latin typeface="Segoe UI"/>
              </a:rPr>
              <a:t>252-column exporter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384048" y="2359152"/>
            <a:ext cx="1536192" cy="676656"/>
          </a:xfrm>
          <a:prstGeom prst="roundRect">
            <a:avLst/>
          </a:prstGeom>
          <a:solidFill>
            <a:srgbClr val="003878"/>
          </a:solidFill>
          <a:ln w="12700">
            <a:solidFill>
              <a:srgbClr val="003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Intelligence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2084832" y="2359152"/>
            <a:ext cx="1586484" cy="676656"/>
          </a:xfrm>
          <a:prstGeom prst="roundRect">
            <a:avLst/>
          </a:prstGeom>
          <a:solidFill>
            <a:srgbClr val="F1F4F8"/>
          </a:solidFill>
          <a:ln w="12700">
            <a:solidFill>
              <a:srgbClr val="003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00" b="0">
                <a:solidFill>
                  <a:srgbClr val="1F242B"/>
                </a:solidFill>
                <a:latin typeface="Segoe UI"/>
              </a:rPr>
              <a:t>Trade-shorthand decoders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3781044" y="2359152"/>
            <a:ext cx="1586484" cy="676656"/>
          </a:xfrm>
          <a:prstGeom prst="roundRect">
            <a:avLst/>
          </a:prstGeom>
          <a:solidFill>
            <a:srgbClr val="F1F4F8"/>
          </a:solidFill>
          <a:ln w="12700">
            <a:solidFill>
              <a:srgbClr val="003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00" b="0">
                <a:solidFill>
                  <a:srgbClr val="1F242B"/>
                </a:solidFill>
                <a:latin typeface="Segoe UI"/>
              </a:rPr>
              <a:t>Identity resolver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5477256" y="2359152"/>
            <a:ext cx="1586484" cy="676656"/>
          </a:xfrm>
          <a:prstGeom prst="roundRect">
            <a:avLst/>
          </a:prstGeom>
          <a:solidFill>
            <a:srgbClr val="F1F4F8"/>
          </a:solidFill>
          <a:ln w="12700">
            <a:solidFill>
              <a:srgbClr val="003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00" b="0">
                <a:solidFill>
                  <a:srgbClr val="1F242B"/>
                </a:solidFill>
                <a:latin typeface="Segoe UI"/>
              </a:rPr>
              <a:t>Knowledge graph + RAG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7173468" y="2359152"/>
            <a:ext cx="1586484" cy="676656"/>
          </a:xfrm>
          <a:prstGeom prst="roundRect">
            <a:avLst/>
          </a:prstGeom>
          <a:solidFill>
            <a:srgbClr val="F1F4F8"/>
          </a:solidFill>
          <a:ln w="12700">
            <a:solidFill>
              <a:srgbClr val="003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00" b="0">
                <a:solidFill>
                  <a:srgbClr val="1F242B"/>
                </a:solidFill>
                <a:latin typeface="Segoe UI"/>
              </a:rPr>
              <a:t>LLM extract / generate / judge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384048" y="3145536"/>
            <a:ext cx="1536192" cy="676656"/>
          </a:xfrm>
          <a:prstGeom prst="roundRect">
            <a:avLst/>
          </a:prstGeom>
          <a:solidFill>
            <a:srgbClr val="003878"/>
          </a:solidFill>
          <a:ln w="12700">
            <a:solidFill>
              <a:srgbClr val="003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Contract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2084832" y="3145536"/>
            <a:ext cx="2151887" cy="676656"/>
          </a:xfrm>
          <a:prstGeom prst="roundRect">
            <a:avLst/>
          </a:prstGeom>
          <a:solidFill>
            <a:srgbClr val="F1F4F8"/>
          </a:solidFill>
          <a:ln w="12700">
            <a:solidFill>
              <a:srgbClr val="003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00" b="0">
                <a:solidFill>
                  <a:srgbClr val="1F242B"/>
                </a:solidFill>
                <a:latin typeface="Segoe UI"/>
              </a:rPr>
              <a:t>attributes.json — 26 classes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4346448" y="3145536"/>
            <a:ext cx="2151887" cy="676656"/>
          </a:xfrm>
          <a:prstGeom prst="roundRect">
            <a:avLst/>
          </a:prstGeom>
          <a:solidFill>
            <a:srgbClr val="F1F4F8"/>
          </a:solidFill>
          <a:ln w="12700">
            <a:solidFill>
              <a:srgbClr val="003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00" b="0">
                <a:solidFill>
                  <a:srgbClr val="1F242B"/>
                </a:solidFill>
                <a:latin typeface="Segoe UI"/>
              </a:rPr>
              <a:t>Delivery template header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6608064" y="3145536"/>
            <a:ext cx="2151887" cy="676656"/>
          </a:xfrm>
          <a:prstGeom prst="roundRect">
            <a:avLst/>
          </a:prstGeom>
          <a:solidFill>
            <a:srgbClr val="F1F4F8"/>
          </a:solidFill>
          <a:ln w="12700">
            <a:solidFill>
              <a:srgbClr val="003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00" b="0">
                <a:solidFill>
                  <a:srgbClr val="1F242B"/>
                </a:solidFill>
                <a:latin typeface="Segoe UI"/>
              </a:rPr>
              <a:t>Quality scorer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384048" y="3931920"/>
            <a:ext cx="1536192" cy="676656"/>
          </a:xfrm>
          <a:prstGeom prst="roundRect">
            <a:avLst/>
          </a:prstGeom>
          <a:solidFill>
            <a:srgbClr val="003878"/>
          </a:solidFill>
          <a:ln w="12700">
            <a:solidFill>
              <a:srgbClr val="003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Foundation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2084832" y="3931920"/>
            <a:ext cx="2151887" cy="676656"/>
          </a:xfrm>
          <a:prstGeom prst="roundRect">
            <a:avLst/>
          </a:prstGeom>
          <a:solidFill>
            <a:srgbClr val="F1F4F8"/>
          </a:solidFill>
          <a:ln w="12700">
            <a:solidFill>
              <a:srgbClr val="003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00" b="0">
                <a:solidFill>
                  <a:srgbClr val="1F242B"/>
                </a:solidFill>
                <a:latin typeface="Segoe UI"/>
              </a:rPr>
              <a:t>Provider-agnostic LLM client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4346448" y="3931920"/>
            <a:ext cx="2151887" cy="676656"/>
          </a:xfrm>
          <a:prstGeom prst="roundRect">
            <a:avLst/>
          </a:prstGeom>
          <a:solidFill>
            <a:srgbClr val="F1F4F8"/>
          </a:solidFill>
          <a:ln w="12700">
            <a:solidFill>
              <a:srgbClr val="003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00" b="0">
                <a:solidFill>
                  <a:srgbClr val="1F242B"/>
                </a:solidFill>
                <a:latin typeface="Segoe UI"/>
              </a:rPr>
              <a:t>SQLite store + prompt cache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6608064" y="3931920"/>
            <a:ext cx="2151887" cy="676656"/>
          </a:xfrm>
          <a:prstGeom prst="roundRect">
            <a:avLst/>
          </a:prstGeom>
          <a:solidFill>
            <a:srgbClr val="F1F4F8"/>
          </a:solidFill>
          <a:ln w="12700">
            <a:solidFill>
              <a:srgbClr val="003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00" b="0">
                <a:solidFill>
                  <a:srgbClr val="1F242B"/>
                </a:solidFill>
                <a:latin typeface="Segoe UI"/>
              </a:rPr>
              <a:t>Rate limiter + retry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384048" y="4773168"/>
            <a:ext cx="837590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5A6370"/>
                </a:solidFill>
                <a:latin typeface="Segoe UI"/>
              </a:rPr>
              <a:t>Anthropic · Gemini · OpenAI · Groq — first provider with a key wins, and a failure falls through to the next, so one vendor's rate limit cannot stop a run.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34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34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Technologies used in the solution</a:t>
            </a:r>
            <a:endParaRPr b="0" i="0" sz="12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6" name="Rounded Rectangle 155"/>
          <p:cNvSpPr/>
          <p:nvPr/>
        </p:nvSpPr>
        <p:spPr>
          <a:xfrm>
            <a:off x="384048" y="1572768"/>
            <a:ext cx="1572768" cy="365760"/>
          </a:xfrm>
          <a:prstGeom prst="roundRect">
            <a:avLst/>
          </a:prstGeom>
          <a:solidFill>
            <a:srgbClr val="003878"/>
          </a:solidFill>
          <a:ln w="12700">
            <a:solidFill>
              <a:srgbClr val="003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Core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2121408" y="1636776"/>
            <a:ext cx="663854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242B"/>
                </a:solidFill>
                <a:latin typeface="Segoe UI"/>
              </a:rPr>
              <a:t>Python 3.13 · pydantic · pandas · numpy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384048" y="2020824"/>
            <a:ext cx="1572768" cy="365760"/>
          </a:xfrm>
          <a:prstGeom prst="roundRect">
            <a:avLst/>
          </a:prstGeom>
          <a:solidFill>
            <a:srgbClr val="003878"/>
          </a:solidFill>
          <a:ln w="12700">
            <a:solidFill>
              <a:srgbClr val="003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Intelligence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2121408" y="2084831"/>
            <a:ext cx="663854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242B"/>
                </a:solidFill>
                <a:latin typeface="Segoe UI"/>
              </a:rPr>
              <a:t>Gemini 3.5 Flash-Lite (bulk) · Gemini 3.6 Flash (vision) · provider-agnostic client with Anthropic / OpenAI / Groq fallback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384048" y="2468880"/>
            <a:ext cx="1572768" cy="365760"/>
          </a:xfrm>
          <a:prstGeom prst="roundRect">
            <a:avLst/>
          </a:prstGeom>
          <a:solidFill>
            <a:srgbClr val="003878"/>
          </a:solidFill>
          <a:ln w="12700">
            <a:solidFill>
              <a:srgbClr val="003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Retrieval &amp; graph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2121408" y="2532888"/>
            <a:ext cx="663854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242B"/>
                </a:solidFill>
                <a:latin typeface="Segoe UI"/>
              </a:rPr>
              <a:t>networkx knowledge graph · TF-IDF peer retrieval (scikit-learn) · rapidfuzz alias matching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384048" y="2916936"/>
            <a:ext cx="1572768" cy="365760"/>
          </a:xfrm>
          <a:prstGeom prst="roundRect">
            <a:avLst/>
          </a:prstGeom>
          <a:solidFill>
            <a:srgbClr val="003878"/>
          </a:solidFill>
          <a:ln w="12700">
            <a:solidFill>
              <a:srgbClr val="003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Documents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2121408" y="2980944"/>
            <a:ext cx="663854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242B"/>
                </a:solidFill>
                <a:latin typeface="Segoe UI"/>
              </a:rPr>
              <a:t>PyMuPDF for datasheet tables · Pillow for image evidence · openpyxl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384048" y="3364991"/>
            <a:ext cx="1572768" cy="365760"/>
          </a:xfrm>
          <a:prstGeom prst="roundRect">
            <a:avLst/>
          </a:prstGeom>
          <a:solidFill>
            <a:srgbClr val="003878"/>
          </a:solidFill>
          <a:ln w="12700">
            <a:solidFill>
              <a:srgbClr val="003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Interface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2121408" y="3428999"/>
            <a:ext cx="663854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242B"/>
                </a:solidFill>
                <a:latin typeface="Segoe UI"/>
              </a:rPr>
              <a:t>Streamlit · Plotly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384048" y="3813048"/>
            <a:ext cx="1572768" cy="365760"/>
          </a:xfrm>
          <a:prstGeom prst="roundRect">
            <a:avLst/>
          </a:prstGeom>
          <a:solidFill>
            <a:srgbClr val="003878"/>
          </a:solidFill>
          <a:ln w="12700">
            <a:solidFill>
              <a:srgbClr val="003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Storage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2121408" y="3877056"/>
            <a:ext cx="663854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242B"/>
                </a:solidFill>
                <a:latin typeface="Segoe UI"/>
              </a:rPr>
              <a:t>SQLite — catalogue, runs, review decisions and the prompt cache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384048" y="4261104"/>
            <a:ext cx="1572768" cy="365760"/>
          </a:xfrm>
          <a:prstGeom prst="roundRect">
            <a:avLst/>
          </a:prstGeom>
          <a:solidFill>
            <a:srgbClr val="003878"/>
          </a:solidFill>
          <a:ln w="12700">
            <a:solidFill>
              <a:srgbClr val="003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Quality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2121408" y="4325112"/>
            <a:ext cx="663854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F242B"/>
                </a:solidFill>
                <a:latin typeface="Segoe UI"/>
              </a:rPr>
              <a:t>pytest — 35 tests over decoding, identity and request pacing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35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35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Estimated implementation cost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62" name="TextBox 161"/>
          <p:cNvSpPr txBox="1"/>
          <p:nvPr/>
        </p:nvSpPr>
        <p:spPr>
          <a:xfrm>
            <a:off x="384048" y="1463040"/>
            <a:ext cx="83759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003878"/>
                </a:solidFill>
                <a:latin typeface="Segoe UI"/>
              </a:rPr>
              <a:t>The deterministic pass is the product. The model is an optional accelerant.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384048" y="1993392"/>
            <a:ext cx="1997964" cy="749808"/>
          </a:xfrm>
          <a:prstGeom prst="roundRect">
            <a:avLst/>
          </a:prstGeom>
          <a:solidFill>
            <a:srgbClr val="F1F4F8"/>
          </a:solidFill>
          <a:ln>
            <a:solidFill>
              <a:srgbClr val="F1F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>
              <a:spcAft>
                <a:spcPts val="100"/>
              </a:spcAft>
            </a:pPr>
            <a:r>
              <a:rPr sz="1700" b="1">
                <a:solidFill>
                  <a:srgbClr val="003878"/>
                </a:solidFill>
                <a:latin typeface="Segoe UI"/>
              </a:rPr>
              <a:t>₹0</a:t>
            </a:r>
          </a:p>
          <a:p>
            <a:pPr algn="ctr"/>
            <a:r>
              <a:rPr sz="850" b="0">
                <a:solidFill>
                  <a:srgbClr val="5A6370"/>
                </a:solidFill>
                <a:latin typeface="Segoe UI"/>
              </a:rPr>
              <a:t>full 1,000-row deterministic pass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2510028" y="1993392"/>
            <a:ext cx="1997964" cy="749808"/>
          </a:xfrm>
          <a:prstGeom prst="roundRect">
            <a:avLst/>
          </a:prstGeom>
          <a:solidFill>
            <a:srgbClr val="F1F4F8"/>
          </a:solidFill>
          <a:ln>
            <a:solidFill>
              <a:srgbClr val="F1F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>
              <a:spcAft>
                <a:spcPts val="100"/>
              </a:spcAft>
            </a:pPr>
            <a:r>
              <a:rPr sz="1700" b="1">
                <a:solidFill>
                  <a:srgbClr val="003878"/>
                </a:solidFill>
                <a:latin typeface="Segoe UI"/>
              </a:rPr>
              <a:t>7.2s</a:t>
            </a:r>
          </a:p>
          <a:p>
            <a:pPr algn="ctr"/>
            <a:r>
              <a:rPr sz="850" b="0">
                <a:solidFill>
                  <a:srgbClr val="5A6370"/>
                </a:solidFill>
                <a:latin typeface="Segoe UI"/>
              </a:rPr>
              <a:t>end to end, no network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4636008" y="1993392"/>
            <a:ext cx="1997964" cy="749808"/>
          </a:xfrm>
          <a:prstGeom prst="roundRect">
            <a:avLst/>
          </a:prstGeom>
          <a:solidFill>
            <a:srgbClr val="F1F4F8"/>
          </a:solidFill>
          <a:ln>
            <a:solidFill>
              <a:srgbClr val="F1F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>
              <a:spcAft>
                <a:spcPts val="100"/>
              </a:spcAft>
            </a:pPr>
            <a:r>
              <a:rPr sz="1700" b="1">
                <a:solidFill>
                  <a:srgbClr val="003878"/>
                </a:solidFill>
                <a:latin typeface="Segoe UI"/>
              </a:rPr>
              <a:t>~4,000</a:t>
            </a:r>
          </a:p>
          <a:p>
            <a:pPr algn="ctr"/>
            <a:r>
              <a:rPr sz="850" b="0">
                <a:solidFill>
                  <a:srgbClr val="5A6370"/>
                </a:solidFill>
                <a:latin typeface="Segoe UI"/>
              </a:rPr>
              <a:t>model calls for a full LLM pass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6761988" y="1993392"/>
            <a:ext cx="1997964" cy="749808"/>
          </a:xfrm>
          <a:prstGeom prst="roundRect">
            <a:avLst/>
          </a:prstGeom>
          <a:solidFill>
            <a:srgbClr val="F1F4F8"/>
          </a:solidFill>
          <a:ln>
            <a:solidFill>
              <a:srgbClr val="F1F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>
              <a:spcAft>
                <a:spcPts val="100"/>
              </a:spcAft>
            </a:pPr>
            <a:r>
              <a:rPr sz="1700" b="1">
                <a:solidFill>
                  <a:srgbClr val="003878"/>
                </a:solidFill>
                <a:latin typeface="Segoe UI"/>
              </a:rPr>
              <a:t>15 RPM</a:t>
            </a:r>
          </a:p>
          <a:p>
            <a:pPr algn="ctr"/>
            <a:r>
              <a:rPr sz="850" b="0">
                <a:solidFill>
                  <a:srgbClr val="5A6370"/>
                </a:solidFill>
                <a:latin typeface="Segoe UI"/>
              </a:rPr>
              <a:t>free-tier ceiling per model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384048" y="2999232"/>
            <a:ext cx="837590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1F242B"/>
                </a:solidFill>
                <a:latin typeface="Segoe UI"/>
              </a:rPr>
              <a:t>•  Running the whole file through the model on a free tier takes about five hours — so the engine is built so that it never has to. Deterministic decoding covers all 1,000 rows; the model is pointed at what is left.</a:t>
            </a:r>
          </a:p>
          <a:p>
            <a:pPr algn="l">
              <a:spcAft>
                <a:spcPts val="700"/>
              </a:spcAft>
            </a:pPr>
            <a:r>
              <a:rPr sz="1100" b="0">
                <a:solidFill>
                  <a:srgbClr val="1F242B"/>
                </a:solidFill>
                <a:latin typeface="Segoe UI"/>
              </a:rPr>
              <a:t>•  Every completion is cached by (provider, model, prompt) hash, so a re-run during a demo or a review cycle costs nothing at all.</a:t>
            </a:r>
          </a:p>
          <a:p>
            <a:pPr algn="l">
              <a:spcAft>
                <a:spcPts val="700"/>
              </a:spcAft>
            </a:pPr>
            <a:r>
              <a:rPr sz="1100" b="0">
                <a:solidFill>
                  <a:srgbClr val="1F242B"/>
                </a:solidFill>
                <a:latin typeface="Segoe UI"/>
              </a:rPr>
              <a:t>•  A paid key changes only the throughput, not the architecture: at Gemini Flash-Lite list pricing a full 1,000-row enrichment is a low single-digit dollar job.</a:t>
            </a:r>
          </a:p>
          <a:p>
            <a:pPr algn="l">
              <a:spcAft>
                <a:spcPts val="700"/>
              </a:spcAft>
            </a:pPr>
            <a:r>
              <a:rPr sz="1100" b="0">
                <a:solidFill>
                  <a:srgbClr val="1F242B"/>
                </a:solidFill>
                <a:latin typeface="Segoe UI"/>
              </a:rPr>
              <a:t>•  Self-hosting cost is a Streamlit process and a SQLite file — no vector database, no queue, no GPU.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36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36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8" name="Picture 167" descr="01_overview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1517904"/>
            <a:ext cx="4059936" cy="1481328"/>
          </a:xfrm>
          <a:prstGeom prst="rect">
            <a:avLst/>
          </a:prstGeom>
        </p:spPr>
      </p:pic>
      <p:sp>
        <p:nvSpPr>
          <p:cNvPr id="169" name="TextBox 168"/>
          <p:cNvSpPr txBox="1"/>
          <p:nvPr/>
        </p:nvSpPr>
        <p:spPr>
          <a:xfrm>
            <a:off x="384048" y="3026664"/>
            <a:ext cx="405993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A6370"/>
                </a:solidFill>
                <a:latin typeface="Segoe UI"/>
              </a:rPr>
              <a:t>Overview — measured uplift, not a claim</a:t>
            </a:r>
          </a:p>
        </p:txBody>
      </p:sp>
      <p:pic>
        <p:nvPicPr>
          <p:cNvPr id="170" name="Picture 169" descr="02_catalog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0016" y="1517904"/>
            <a:ext cx="4059936" cy="1481328"/>
          </a:xfrm>
          <a:prstGeom prst="rect">
            <a:avLst/>
          </a:prstGeom>
        </p:spPr>
      </p:pic>
      <p:sp>
        <p:nvSpPr>
          <p:cNvPr id="171" name="TextBox 170"/>
          <p:cNvSpPr txBox="1"/>
          <p:nvPr/>
        </p:nvSpPr>
        <p:spPr>
          <a:xfrm>
            <a:off x="4700016" y="3026664"/>
            <a:ext cx="405993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A6370"/>
                </a:solidFill>
                <a:latin typeface="Segoe UI"/>
              </a:rPr>
              <a:t>Catalog — every value, its evidence and its confidence</a:t>
            </a:r>
          </a:p>
        </p:txBody>
      </p:sp>
      <p:pic>
        <p:nvPicPr>
          <p:cNvPr id="172" name="Picture 171" descr="04_review_queu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" y="3401568"/>
            <a:ext cx="4059936" cy="1481328"/>
          </a:xfrm>
          <a:prstGeom prst="rect">
            <a:avLst/>
          </a:prstGeom>
        </p:spPr>
      </p:pic>
      <p:sp>
        <p:nvSpPr>
          <p:cNvPr id="173" name="TextBox 172"/>
          <p:cNvSpPr txBox="1"/>
          <p:nvPr/>
        </p:nvSpPr>
        <p:spPr>
          <a:xfrm>
            <a:off x="384048" y="4910328"/>
            <a:ext cx="405993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A6370"/>
                </a:solidFill>
                <a:latin typeface="Segoe UI"/>
              </a:rPr>
              <a:t>Review Queue — only what the engine could not settle</a:t>
            </a:r>
          </a:p>
        </p:txBody>
      </p:sp>
      <p:pic>
        <p:nvPicPr>
          <p:cNvPr id="174" name="Picture 173" descr="05_export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0016" y="3401568"/>
            <a:ext cx="4059936" cy="1481328"/>
          </a:xfrm>
          <a:prstGeom prst="rect">
            <a:avLst/>
          </a:prstGeom>
        </p:spPr>
      </p:pic>
      <p:sp>
        <p:nvSpPr>
          <p:cNvPr id="175" name="TextBox 174"/>
          <p:cNvSpPr txBox="1"/>
          <p:nvPr/>
        </p:nvSpPr>
        <p:spPr>
          <a:xfrm>
            <a:off x="4700016" y="4910328"/>
            <a:ext cx="405993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A6370"/>
                </a:solidFill>
                <a:latin typeface="Segoe UI"/>
              </a:rPr>
              <a:t>Export — the 252-column delivery contract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37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7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Additional Details/Future Development (if any)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4" name="TextBox 173"/>
          <p:cNvSpPr txBox="1"/>
          <p:nvPr/>
        </p:nvSpPr>
        <p:spPr>
          <a:xfrm>
            <a:off x="384048" y="1481328"/>
            <a:ext cx="8375904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003878"/>
                </a:solidFill>
                <a:latin typeface="Segoe UI"/>
              </a:rPr>
              <a:t>What is deliberately not done yet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F242B"/>
                </a:solidFill>
                <a:latin typeface="Segoe UI"/>
              </a:rPr>
              <a:t>•  Distributor-side columns — SKU - MY_PART_NUMBER, List Price, Prop 65 — export blank. They are commercial data no enrichment can honestly invent.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F242B"/>
                </a:solidFill>
                <a:latin typeface="Segoe UI"/>
              </a:rPr>
              <a:t>•  290 rows classify as General Product deterministically; LLM escalation resolves about three quarters, and the rest are genuinely outside the 26-class taxonomy.</a:t>
            </a:r>
          </a:p>
          <a:p>
            <a:pPr algn="l">
              <a:spcBef>
                <a:spcPts val="1000"/>
              </a:spcBef>
              <a:spcAft>
                <a:spcPts val="700"/>
              </a:spcAft>
            </a:pPr>
            <a:r>
              <a:rPr sz="1300" b="1">
                <a:solidFill>
                  <a:srgbClr val="003878"/>
                </a:solidFill>
                <a:latin typeface="Segoe UI"/>
              </a:rPr>
              <a:t>Next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F242B"/>
                </a:solidFill>
                <a:latin typeface="Segoe UI"/>
              </a:rPr>
              <a:t>•  Manufacturer datasheet ingestion at scale — the PDF table extractor and the vision path are built and wired; they need a document source per SKU.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F242B"/>
                </a:solidFill>
                <a:latin typeface="Segoe UI"/>
              </a:rPr>
              <a:t>•  Learned confidence calibration: the review decisions already stored are the training signal for replacing the hand-set confidence constants.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F242B"/>
                </a:solidFill>
                <a:latin typeface="Segoe UI"/>
              </a:rPr>
              <a:t>•  Taxonomy expansion driven by what lands in General Product, so the schema grows from evidence rather than guesswork.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F242B"/>
                </a:solidFill>
                <a:latin typeface="Segoe UI"/>
              </a:rPr>
              <a:t>•  Persisted knowledge graph across runs, so peer consensus improves as the catalogue grows instead of being rebuilt per run.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38" title="Framededede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8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Provide links to your: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Demo Video Link (3 Minutes)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AutoNum type="arabicPeriod"/>
            </a:pPr>
            <a:r>
              <a:rPr lang="en-GB" sz="1800">
                <a:latin typeface="Google Sans"/>
                <a:ea typeface="Google Sans"/>
                <a:cs typeface="Google Sans"/>
                <a:sym typeface="Google Sans"/>
              </a:rPr>
              <a:t>Working Prototype Link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80" name="TextBox 179"/>
          <p:cNvSpPr txBox="1"/>
          <p:nvPr/>
        </p:nvSpPr>
        <p:spPr>
          <a:xfrm>
            <a:off x="384048" y="1737360"/>
            <a:ext cx="8375904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03878"/>
                </a:solidFill>
                <a:latin typeface="Segoe UI"/>
              </a:rPr>
              <a:t>GitHub public repository</a:t>
            </a:r>
          </a:p>
          <a:p>
            <a:pPr algn="l">
              <a:spcAft>
                <a:spcPts val="1200"/>
              </a:spcAft>
            </a:pPr>
            <a:r>
              <a:rPr sz="1150" b="0">
                <a:solidFill>
                  <a:srgbClr val="5A6370"/>
                </a:solidFill>
                <a:latin typeface="Segoe UI"/>
              </a:rPr>
              <a:t>&lt;paste repository URL&gt;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003878"/>
                </a:solidFill>
                <a:latin typeface="Segoe UI"/>
              </a:rPr>
              <a:t>Demo video (3 minutes)</a:t>
            </a:r>
          </a:p>
          <a:p>
            <a:pPr algn="l">
              <a:spcAft>
                <a:spcPts val="1200"/>
              </a:spcAft>
            </a:pPr>
            <a:r>
              <a:rPr sz="1150" b="0">
                <a:solidFill>
                  <a:srgbClr val="5A6370"/>
                </a:solidFill>
                <a:latin typeface="Segoe UI"/>
              </a:rPr>
              <a:t>&lt;paste video URL&gt;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003878"/>
                </a:solidFill>
                <a:latin typeface="Segoe UI"/>
              </a:rPr>
              <a:t>Working prototype</a:t>
            </a:r>
          </a:p>
          <a:p>
            <a:pPr algn="l">
              <a:spcAft>
                <a:spcPts val="1200"/>
              </a:spcAft>
            </a:pPr>
            <a:r>
              <a:rPr sz="1150" b="0">
                <a:solidFill>
                  <a:srgbClr val="5A6370"/>
                </a:solidFill>
                <a:latin typeface="Segoe UI"/>
              </a:rPr>
              <a:t>&lt;paste Streamlit Cloud URL&gt;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39" title="Framededede 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